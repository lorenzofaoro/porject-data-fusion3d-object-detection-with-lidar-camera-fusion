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1" r:id="rId6"/>
    <p:sldId id="262" r:id="rId7"/>
    <p:sldId id="268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-6" y="-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5400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A2C30-022D-86CF-F264-91D3C2221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25DCB0-5FD7-01FC-7425-D1E64B2CB3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79CA18-E756-7D2B-F938-9C4F306E14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B2E99-EA4C-64B7-856B-FA6C501D55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314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4" Type="http://schemas.openxmlformats.org/officeDocument/2006/relationships/image" Target="../media/image2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16.png"/><Relationship Id="rId10" Type="http://schemas.openxmlformats.org/officeDocument/2006/relationships/image" Target="../media/image36.png"/><Relationship Id="rId4" Type="http://schemas.openxmlformats.org/officeDocument/2006/relationships/image" Target="../media/image2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8.png"/><Relationship Id="rId18" Type="http://schemas.openxmlformats.org/officeDocument/2006/relationships/image" Target="../media/image53.png"/><Relationship Id="rId26" Type="http://schemas.openxmlformats.org/officeDocument/2006/relationships/image" Target="../media/image61.png"/><Relationship Id="rId3" Type="http://schemas.openxmlformats.org/officeDocument/2006/relationships/image" Target="../media/image1.png"/><Relationship Id="rId21" Type="http://schemas.openxmlformats.org/officeDocument/2006/relationships/image" Target="../media/image56.png"/><Relationship Id="rId7" Type="http://schemas.openxmlformats.org/officeDocument/2006/relationships/image" Target="../media/image43.png"/><Relationship Id="rId12" Type="http://schemas.openxmlformats.org/officeDocument/2006/relationships/image" Target="../media/image47.png"/><Relationship Id="rId17" Type="http://schemas.openxmlformats.org/officeDocument/2006/relationships/image" Target="../media/image52.png"/><Relationship Id="rId25" Type="http://schemas.openxmlformats.org/officeDocument/2006/relationships/image" Target="../media/image6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6.png"/><Relationship Id="rId24" Type="http://schemas.openxmlformats.org/officeDocument/2006/relationships/image" Target="../media/image59.png"/><Relationship Id="rId5" Type="http://schemas.openxmlformats.org/officeDocument/2006/relationships/image" Target="../media/image41.png"/><Relationship Id="rId15" Type="http://schemas.openxmlformats.org/officeDocument/2006/relationships/image" Target="../media/image50.png"/><Relationship Id="rId23" Type="http://schemas.openxmlformats.org/officeDocument/2006/relationships/image" Target="../media/image58.png"/><Relationship Id="rId10" Type="http://schemas.openxmlformats.org/officeDocument/2006/relationships/image" Target="../media/image45.png"/><Relationship Id="rId19" Type="http://schemas.openxmlformats.org/officeDocument/2006/relationships/image" Target="../media/image54.png"/><Relationship Id="rId4" Type="http://schemas.openxmlformats.org/officeDocument/2006/relationships/image" Target="../media/image16.png"/><Relationship Id="rId9" Type="http://schemas.openxmlformats.org/officeDocument/2006/relationships/image" Target="../media/image44.png"/><Relationship Id="rId14" Type="http://schemas.openxmlformats.org/officeDocument/2006/relationships/image" Target="../media/image49.png"/><Relationship Id="rId22" Type="http://schemas.openxmlformats.org/officeDocument/2006/relationships/image" Target="../media/image5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26" Type="http://schemas.openxmlformats.org/officeDocument/2006/relationships/image" Target="../media/image82.png"/><Relationship Id="rId3" Type="http://schemas.openxmlformats.org/officeDocument/2006/relationships/image" Target="../media/image1.png"/><Relationship Id="rId21" Type="http://schemas.openxmlformats.org/officeDocument/2006/relationships/image" Target="../media/image77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5" Type="http://schemas.openxmlformats.org/officeDocument/2006/relationships/image" Target="../media/image8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2.png"/><Relationship Id="rId20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24" Type="http://schemas.openxmlformats.org/officeDocument/2006/relationships/image" Target="../media/image80.png"/><Relationship Id="rId5" Type="http://schemas.openxmlformats.org/officeDocument/2006/relationships/image" Target="../media/image16.png"/><Relationship Id="rId15" Type="http://schemas.openxmlformats.org/officeDocument/2006/relationships/image" Target="../media/image71.png"/><Relationship Id="rId23" Type="http://schemas.openxmlformats.org/officeDocument/2006/relationships/image" Target="../media/image79.png"/><Relationship Id="rId10" Type="http://schemas.openxmlformats.org/officeDocument/2006/relationships/image" Target="../media/image66.png"/><Relationship Id="rId19" Type="http://schemas.openxmlformats.org/officeDocument/2006/relationships/image" Target="../media/image75.png"/><Relationship Id="rId4" Type="http://schemas.openxmlformats.org/officeDocument/2006/relationships/image" Target="../media/image2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Relationship Id="rId22" Type="http://schemas.openxmlformats.org/officeDocument/2006/relationships/image" Target="../media/image78.png"/><Relationship Id="rId27" Type="http://schemas.openxmlformats.org/officeDocument/2006/relationships/image" Target="../media/image8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18" Type="http://schemas.openxmlformats.org/officeDocument/2006/relationships/image" Target="../media/image97.png"/><Relationship Id="rId26" Type="http://schemas.openxmlformats.org/officeDocument/2006/relationships/image" Target="../media/image105.png"/><Relationship Id="rId3" Type="http://schemas.openxmlformats.org/officeDocument/2006/relationships/image" Target="../media/image1.png"/><Relationship Id="rId21" Type="http://schemas.openxmlformats.org/officeDocument/2006/relationships/image" Target="../media/image100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17" Type="http://schemas.openxmlformats.org/officeDocument/2006/relationships/image" Target="../media/image96.png"/><Relationship Id="rId25" Type="http://schemas.openxmlformats.org/officeDocument/2006/relationships/image" Target="../media/image104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95.png"/><Relationship Id="rId20" Type="http://schemas.openxmlformats.org/officeDocument/2006/relationships/image" Target="../media/image9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24" Type="http://schemas.openxmlformats.org/officeDocument/2006/relationships/image" Target="../media/image103.pn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23" Type="http://schemas.openxmlformats.org/officeDocument/2006/relationships/image" Target="../media/image102.png"/><Relationship Id="rId28" Type="http://schemas.openxmlformats.org/officeDocument/2006/relationships/image" Target="../media/image107.png"/><Relationship Id="rId10" Type="http://schemas.openxmlformats.org/officeDocument/2006/relationships/image" Target="../media/image89.png"/><Relationship Id="rId19" Type="http://schemas.openxmlformats.org/officeDocument/2006/relationships/image" Target="../media/image98.png"/><Relationship Id="rId4" Type="http://schemas.openxmlformats.org/officeDocument/2006/relationships/image" Target="../media/image16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Relationship Id="rId22" Type="http://schemas.openxmlformats.org/officeDocument/2006/relationships/image" Target="../media/image101.png"/><Relationship Id="rId27" Type="http://schemas.openxmlformats.org/officeDocument/2006/relationships/image" Target="../media/image10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png"/><Relationship Id="rId3" Type="http://schemas.openxmlformats.org/officeDocument/2006/relationships/image" Target="../media/image1.png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17" Type="http://schemas.openxmlformats.org/officeDocument/2006/relationships/image" Target="../media/image119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5" Type="http://schemas.openxmlformats.org/officeDocument/2006/relationships/image" Target="../media/image16.png"/><Relationship Id="rId15" Type="http://schemas.openxmlformats.org/officeDocument/2006/relationships/image" Target="../media/image117.png"/><Relationship Id="rId10" Type="http://schemas.openxmlformats.org/officeDocument/2006/relationships/image" Target="../media/image112.png"/><Relationship Id="rId4" Type="http://schemas.openxmlformats.org/officeDocument/2006/relationships/image" Target="../media/image2.png"/><Relationship Id="rId9" Type="http://schemas.openxmlformats.org/officeDocument/2006/relationships/image" Target="../media/image111.png"/><Relationship Id="rId14" Type="http://schemas.openxmlformats.org/officeDocument/2006/relationships/image" Target="../media/image1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8.png"/><Relationship Id="rId18" Type="http://schemas.openxmlformats.org/officeDocument/2006/relationships/image" Target="../media/image131.png"/><Relationship Id="rId3" Type="http://schemas.openxmlformats.org/officeDocument/2006/relationships/image" Target="../media/image1.png"/><Relationship Id="rId7" Type="http://schemas.openxmlformats.org/officeDocument/2006/relationships/image" Target="../media/image121.png"/><Relationship Id="rId12" Type="http://schemas.openxmlformats.org/officeDocument/2006/relationships/image" Target="../media/image126.png"/><Relationship Id="rId17" Type="http://schemas.openxmlformats.org/officeDocument/2006/relationships/image" Target="../media/image130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11" Type="http://schemas.openxmlformats.org/officeDocument/2006/relationships/image" Target="../media/image125.png"/><Relationship Id="rId5" Type="http://schemas.openxmlformats.org/officeDocument/2006/relationships/image" Target="../media/image16.png"/><Relationship Id="rId15" Type="http://schemas.openxmlformats.org/officeDocument/2006/relationships/image" Target="../media/image128.png"/><Relationship Id="rId10" Type="http://schemas.openxmlformats.org/officeDocument/2006/relationships/image" Target="../media/image124.png"/><Relationship Id="rId19" Type="http://schemas.openxmlformats.org/officeDocument/2006/relationships/image" Target="../media/image132.png"/><Relationship Id="rId4" Type="http://schemas.openxmlformats.org/officeDocument/2006/relationships/image" Target="../media/image2.png"/><Relationship Id="rId9" Type="http://schemas.openxmlformats.org/officeDocument/2006/relationships/image" Target="../media/image123.png"/><Relationship Id="rId14" Type="http://schemas.openxmlformats.org/officeDocument/2006/relationships/image" Target="../media/image1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1.png"/><Relationship Id="rId7" Type="http://schemas.openxmlformats.org/officeDocument/2006/relationships/image" Target="../media/image1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png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3" Type="http://schemas.openxmlformats.org/officeDocument/2006/relationships/image" Target="../media/image1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7.png"/><Relationship Id="rId11" Type="http://schemas.openxmlformats.org/officeDocument/2006/relationships/image" Target="../media/image133.png"/><Relationship Id="rId5" Type="http://schemas.openxmlformats.org/officeDocument/2006/relationships/image" Target="../media/image136.png"/><Relationship Id="rId10" Type="http://schemas.openxmlformats.org/officeDocument/2006/relationships/image" Target="../media/image140.png"/><Relationship Id="rId4" Type="http://schemas.openxmlformats.org/officeDocument/2006/relationships/image" Target="../media/image16.png"/><Relationship Id="rId9" Type="http://schemas.openxmlformats.org/officeDocument/2006/relationships/image" Target="../media/image1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1371600"/>
            <a:ext cx="28575" cy="285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714500"/>
            <a:ext cx="28575" cy="285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028700"/>
            <a:ext cx="28575" cy="2857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8400" y="2400300"/>
            <a:ext cx="28575" cy="285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2743200"/>
            <a:ext cx="28575" cy="2857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4400" y="2057400"/>
            <a:ext cx="28575" cy="2857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8000" y="4114800"/>
            <a:ext cx="28575" cy="2857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6800" y="3771900"/>
            <a:ext cx="28575" cy="28575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4800" y="4457700"/>
            <a:ext cx="28575" cy="285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5334000"/>
            <a:ext cx="952500" cy="190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5334000"/>
            <a:ext cx="1143000" cy="190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5334000"/>
            <a:ext cx="762000" cy="190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5334000"/>
            <a:ext cx="1333500" cy="190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91750" y="952500"/>
            <a:ext cx="571500" cy="571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63200" y="1085850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28750" y="5334000"/>
            <a:ext cx="571500" cy="5715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85913" y="5467350"/>
            <a:ext cx="257175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8626"/>
            <a:ext cx="12192000" cy="68580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1828800" y="1962150"/>
            <a:ext cx="8534400" cy="1143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2DD4B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3D Object Detection with LiDAR-Camera Fusion</a:t>
            </a:r>
            <a:endParaRPr lang="en-US" sz="3600" dirty="0"/>
          </a:p>
        </p:txBody>
      </p:sp>
      <p:sp>
        <p:nvSpPr>
          <p:cNvPr id="23" name="Text 1"/>
          <p:cNvSpPr/>
          <p:nvPr/>
        </p:nvSpPr>
        <p:spPr>
          <a:xfrm>
            <a:off x="975360" y="3257550"/>
            <a:ext cx="102412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PointPillars + ResNet Architecture on KITTI-360 Dataset</a:t>
            </a:r>
            <a:endParaRPr lang="en-US" sz="1800" dirty="0"/>
          </a:p>
        </p:txBody>
      </p:sp>
      <p:sp>
        <p:nvSpPr>
          <p:cNvPr id="24" name="Text 2"/>
          <p:cNvSpPr/>
          <p:nvPr/>
        </p:nvSpPr>
        <p:spPr>
          <a:xfrm>
            <a:off x="975360" y="3790950"/>
            <a:ext cx="1024128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FAORO LORENZO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25" name="Text 3"/>
          <p:cNvSpPr/>
          <p:nvPr/>
        </p:nvSpPr>
        <p:spPr>
          <a:xfrm>
            <a:off x="1828800" y="4667250"/>
            <a:ext cx="8534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December 8,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219200"/>
            <a:ext cx="5181600" cy="5029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1476375"/>
            <a:ext cx="22860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352800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3781425"/>
            <a:ext cx="875258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" y="3895725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7758" y="3781425"/>
            <a:ext cx="1360587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80158" y="3895725"/>
            <a:ext cx="952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02645" y="3781425"/>
            <a:ext cx="1155204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55045" y="3895725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1219200"/>
            <a:ext cx="5181600" cy="1409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91300" y="1447800"/>
            <a:ext cx="238125" cy="190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3028950"/>
            <a:ext cx="5181600" cy="1409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91300" y="3257550"/>
            <a:ext cx="171450" cy="190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4838700"/>
            <a:ext cx="5181600" cy="1409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91300" y="5067300"/>
            <a:ext cx="190500" cy="1905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09600" y="381000"/>
            <a:ext cx="1316736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Project Overview &amp; Objectives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1181100" y="1447800"/>
            <a:ext cx="4724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DD4B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Main Goal</a:t>
            </a:r>
            <a:endParaRPr lang="en-US" sz="1800" dirty="0"/>
          </a:p>
        </p:txBody>
      </p:sp>
      <p:sp>
        <p:nvSpPr>
          <p:cNvPr id="22" name="Text 2"/>
          <p:cNvSpPr/>
          <p:nvPr/>
        </p:nvSpPr>
        <p:spPr>
          <a:xfrm>
            <a:off x="838200" y="1905000"/>
            <a:ext cx="4724400" cy="11144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a </a:t>
            </a:r>
            <a:r>
              <a:rPr lang="en-US" sz="1350" b="1" dirty="0">
                <a:solidFill>
                  <a:srgbClr val="00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multi-modal 3D object detection system</a:t>
            </a: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that effectively combines LiDAR point clouds and camera images to </a:t>
            </a:r>
            <a:r>
              <a:rPr lang="en-US" sz="135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increaese</a:t>
            </a: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perception.</a:t>
            </a:r>
            <a:endParaRPr lang="en-US" sz="1350" dirty="0"/>
          </a:p>
        </p:txBody>
      </p:sp>
      <p:sp>
        <p:nvSpPr>
          <p:cNvPr id="23" name="Text 3"/>
          <p:cNvSpPr/>
          <p:nvPr/>
        </p:nvSpPr>
        <p:spPr>
          <a:xfrm>
            <a:off x="1181100" y="3324225"/>
            <a:ext cx="4724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DD4B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Target Objects</a:t>
            </a:r>
            <a:endParaRPr lang="en-US" sz="1800" dirty="0"/>
          </a:p>
        </p:txBody>
      </p:sp>
      <p:sp>
        <p:nvSpPr>
          <p:cNvPr id="24" name="Text 4"/>
          <p:cNvSpPr/>
          <p:nvPr/>
        </p:nvSpPr>
        <p:spPr>
          <a:xfrm>
            <a:off x="1219200" y="3857625"/>
            <a:ext cx="4102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Cars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2151608" y="3857625"/>
            <a:ext cx="106120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Pedestrians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3721745" y="3857625"/>
            <a:ext cx="70044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Cyclists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6943725" y="1409700"/>
            <a:ext cx="4800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28" name="Text 8"/>
          <p:cNvSpPr/>
          <p:nvPr/>
        </p:nvSpPr>
        <p:spPr>
          <a:xfrm>
            <a:off x="6591300" y="1752600"/>
            <a:ext cx="4800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Hybrid deep learning architecture with </a:t>
            </a:r>
            <a:r>
              <a:rPr lang="en-US" sz="1200" dirty="0">
                <a:solidFill>
                  <a:srgbClr val="FFFF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PointPillars for LiDAR 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 extraction and </a:t>
            </a:r>
            <a:r>
              <a:rPr lang="en-US" sz="1200" dirty="0">
                <a:solidFill>
                  <a:srgbClr val="FFFF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ResNet50 for camera 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image processing, integrated through a sophisticated fusion module.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6877050" y="3219450"/>
            <a:ext cx="4800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D4B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Dataset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6591300" y="3562350"/>
            <a:ext cx="4800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Utilize the KITTI-360 autonomous driving dataset, a comprehensive benchmark for urban scene understanding, to train and validate the model.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6896100" y="5029200"/>
            <a:ext cx="4800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Training Environment</a:t>
            </a:r>
            <a:endParaRPr lang="en-US" sz="1500" dirty="0"/>
          </a:p>
        </p:txBody>
      </p:sp>
      <p:sp>
        <p:nvSpPr>
          <p:cNvPr id="32" name="Text 12"/>
          <p:cNvSpPr/>
          <p:nvPr/>
        </p:nvSpPr>
        <p:spPr>
          <a:xfrm>
            <a:off x="6591300" y="5372100"/>
            <a:ext cx="4800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Conduct all training and development within Google Colab, utilizing its GPU acceleration capabilities to manage computational demands.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247775"/>
            <a:ext cx="200025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1714500"/>
            <a:ext cx="6278761" cy="1676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905000"/>
            <a:ext cx="219075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581400"/>
            <a:ext cx="6278761" cy="1676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771900"/>
            <a:ext cx="190500" cy="190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5448300"/>
            <a:ext cx="6278761" cy="1257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5638800"/>
            <a:ext cx="171450" cy="190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3802" y="3319430"/>
            <a:ext cx="4084290" cy="1409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66202" y="3519455"/>
            <a:ext cx="171450" cy="17145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609600" y="381000"/>
            <a:ext cx="109728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KITTI-360 Dataset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923925" y="1219200"/>
            <a:ext cx="627876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DD4B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Sources</a:t>
            </a:r>
            <a:endParaRPr lang="en-US" sz="1800" dirty="0"/>
          </a:p>
        </p:txBody>
      </p:sp>
      <p:sp>
        <p:nvSpPr>
          <p:cNvPr id="21" name="Text 2"/>
          <p:cNvSpPr/>
          <p:nvPr/>
        </p:nvSpPr>
        <p:spPr>
          <a:xfrm>
            <a:off x="1095375" y="1866900"/>
            <a:ext cx="59739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LiDAR Point Clouds</a:t>
            </a:r>
            <a:endParaRPr lang="en-US" sz="1500" dirty="0"/>
          </a:p>
        </p:txBody>
      </p:sp>
      <p:sp>
        <p:nvSpPr>
          <p:cNvPr id="22" name="Text 3"/>
          <p:cNvSpPr/>
          <p:nvPr/>
        </p:nvSpPr>
        <p:spPr>
          <a:xfrm>
            <a:off x="876300" y="2209800"/>
            <a:ext cx="703159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Sensor: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Velodyne HDL-64E laser scanner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876300" y="2476500"/>
            <a:ext cx="703159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Format: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1000 files in .bin format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876300" y="2743200"/>
            <a:ext cx="703159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Density: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~100,000 points per scan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876300" y="3009900"/>
            <a:ext cx="703159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Features: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Each point includes (x, y, z, intensity) coordinates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1066800" y="3733800"/>
            <a:ext cx="59739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Camera Images</a:t>
            </a:r>
            <a:endParaRPr lang="en-US" sz="1500" dirty="0"/>
          </a:p>
        </p:txBody>
      </p:sp>
      <p:sp>
        <p:nvSpPr>
          <p:cNvPr id="27" name="Text 8"/>
          <p:cNvSpPr/>
          <p:nvPr/>
        </p:nvSpPr>
        <p:spPr>
          <a:xfrm>
            <a:off x="876300" y="4076700"/>
            <a:ext cx="703159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Sensor: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High-resolution RGB cameras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876300" y="4343400"/>
            <a:ext cx="703159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Format: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1000 images in .png format</a:t>
            </a:r>
            <a:endParaRPr lang="en-US" sz="1200" dirty="0"/>
          </a:p>
        </p:txBody>
      </p:sp>
      <p:sp>
        <p:nvSpPr>
          <p:cNvPr id="29" name="Text 10"/>
          <p:cNvSpPr/>
          <p:nvPr/>
        </p:nvSpPr>
        <p:spPr>
          <a:xfrm>
            <a:off x="876300" y="4610100"/>
            <a:ext cx="703159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Resolution: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376 x 1408 pixels</a:t>
            </a:r>
            <a:endParaRPr lang="en-US" sz="1200" dirty="0"/>
          </a:p>
        </p:txBody>
      </p:sp>
      <p:sp>
        <p:nvSpPr>
          <p:cNvPr id="30" name="Text 11"/>
          <p:cNvSpPr/>
          <p:nvPr/>
        </p:nvSpPr>
        <p:spPr>
          <a:xfrm>
            <a:off x="876300" y="4876800"/>
            <a:ext cx="703159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Synchronization: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Temporally aligned with LiDAR scans</a:t>
            </a:r>
            <a:endParaRPr lang="en-US" sz="1200" dirty="0"/>
          </a:p>
        </p:txBody>
      </p:sp>
      <p:sp>
        <p:nvSpPr>
          <p:cNvPr id="31" name="Text 12"/>
          <p:cNvSpPr/>
          <p:nvPr/>
        </p:nvSpPr>
        <p:spPr>
          <a:xfrm>
            <a:off x="1047750" y="5600700"/>
            <a:ext cx="597396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3D Annotations</a:t>
            </a:r>
            <a:endParaRPr lang="en-US" sz="1500" dirty="0"/>
          </a:p>
        </p:txBody>
      </p:sp>
      <p:sp>
        <p:nvSpPr>
          <p:cNvPr id="32" name="Text 13"/>
          <p:cNvSpPr/>
          <p:nvPr/>
        </p:nvSpPr>
        <p:spPr>
          <a:xfrm>
            <a:off x="876300" y="5943600"/>
            <a:ext cx="585966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Format: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XML files</a:t>
            </a:r>
            <a:endParaRPr lang="en-US" sz="1200" dirty="0"/>
          </a:p>
        </p:txBody>
      </p:sp>
      <p:sp>
        <p:nvSpPr>
          <p:cNvPr id="33" name="Text 14"/>
          <p:cNvSpPr/>
          <p:nvPr/>
        </p:nvSpPr>
        <p:spPr>
          <a:xfrm>
            <a:off x="876300" y="6210300"/>
            <a:ext cx="703159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Content: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3D bounding boxes with position, size, and orientation, </a:t>
            </a:r>
            <a:endParaRPr lang="en-US" sz="1200" dirty="0"/>
          </a:p>
        </p:txBody>
      </p:sp>
      <p:sp>
        <p:nvSpPr>
          <p:cNvPr id="34" name="Text 15"/>
          <p:cNvSpPr/>
          <p:nvPr/>
        </p:nvSpPr>
        <p:spPr>
          <a:xfrm>
            <a:off x="876300" y="6477000"/>
            <a:ext cx="703159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Categories: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200" dirty="0">
                <a:solidFill>
                  <a:srgbClr val="FFFF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Cars, pedestrians, cyclists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and ground elements</a:t>
            </a:r>
            <a:endParaRPr lang="en-US" sz="1200" dirty="0"/>
          </a:p>
        </p:txBody>
      </p:sp>
      <p:sp>
        <p:nvSpPr>
          <p:cNvPr id="38" name="Text 19"/>
          <p:cNvSpPr/>
          <p:nvPr/>
        </p:nvSpPr>
        <p:spPr>
          <a:xfrm>
            <a:off x="7713852" y="3471830"/>
            <a:ext cx="37794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2DD4B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39" name="Text 20"/>
          <p:cNvSpPr/>
          <p:nvPr/>
        </p:nvSpPr>
        <p:spPr>
          <a:xfrm>
            <a:off x="7504302" y="3814730"/>
            <a:ext cx="448966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Comprehensive </a:t>
            </a:r>
            <a:r>
              <a:rPr lang="en-US" sz="1200" b="1" dirty="0">
                <a:solidFill>
                  <a:srgbClr val="FFFF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urban scene understanding</a:t>
            </a:r>
            <a:endParaRPr lang="en-US" sz="1200" b="1" dirty="0">
              <a:solidFill>
                <a:srgbClr val="FFFF00"/>
              </a:solidFill>
            </a:endParaRPr>
          </a:p>
        </p:txBody>
      </p:sp>
      <p:sp>
        <p:nvSpPr>
          <p:cNvPr id="40" name="Text 21"/>
          <p:cNvSpPr/>
          <p:nvPr/>
        </p:nvSpPr>
        <p:spPr>
          <a:xfrm>
            <a:off x="7504302" y="4081430"/>
            <a:ext cx="448966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Multimodal sensor </a:t>
            </a:r>
            <a:r>
              <a:rPr lang="en-US" sz="1200" dirty="0">
                <a:solidFill>
                  <a:srgbClr val="FFFF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integration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41" name="Text 22"/>
          <p:cNvSpPr/>
          <p:nvPr/>
        </p:nvSpPr>
        <p:spPr>
          <a:xfrm>
            <a:off x="7504302" y="4348130"/>
            <a:ext cx="448966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FFFF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Rich annotation for 3D object detection</a:t>
            </a:r>
            <a:endParaRPr lang="en-US" sz="1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6200"/>
            <a:ext cx="12402800" cy="69342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219200"/>
            <a:ext cx="2438400" cy="1219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409700"/>
            <a:ext cx="190500" cy="190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3421" y="1174393"/>
            <a:ext cx="2438400" cy="1219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5821" y="1364893"/>
            <a:ext cx="19050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3206" y="2819400"/>
            <a:ext cx="2743200" cy="2324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3706" y="3181350"/>
            <a:ext cx="190500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706" y="3695700"/>
            <a:ext cx="13335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3706" y="4152900"/>
            <a:ext cx="133350" cy="1333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3706" y="4610100"/>
            <a:ext cx="133350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03421" y="2819400"/>
            <a:ext cx="2743200" cy="2324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93921" y="3048000"/>
            <a:ext cx="190500" cy="190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93921" y="3429000"/>
            <a:ext cx="11430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93921" y="3695700"/>
            <a:ext cx="133350" cy="1333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93921" y="4152900"/>
            <a:ext cx="133350" cy="1333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75156" y="2819400"/>
            <a:ext cx="2743200" cy="2324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965656" y="3048000"/>
            <a:ext cx="190500" cy="190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965656" y="3429000"/>
            <a:ext cx="104775" cy="1333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965656" y="3886200"/>
            <a:ext cx="171450" cy="1333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324350" y="5461778"/>
            <a:ext cx="3657600" cy="1028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476750" y="5652278"/>
            <a:ext cx="190500" cy="190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476750" y="5976128"/>
            <a:ext cx="133350" cy="1333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61968" y="5976128"/>
            <a:ext cx="133350" cy="13335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609600" y="381000"/>
            <a:ext cx="1316736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Preprocessing Pipeline</a:t>
            </a:r>
            <a:endParaRPr lang="en-US" sz="2700" dirty="0"/>
          </a:p>
        </p:txBody>
      </p:sp>
      <p:sp>
        <p:nvSpPr>
          <p:cNvPr id="34" name="Text 1"/>
          <p:cNvSpPr/>
          <p:nvPr/>
        </p:nvSpPr>
        <p:spPr>
          <a:xfrm>
            <a:off x="1066800" y="1371600"/>
            <a:ext cx="2560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D4B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LiDAR Input</a:t>
            </a:r>
            <a:endParaRPr lang="en-US" sz="1500" dirty="0"/>
          </a:p>
        </p:txBody>
      </p:sp>
      <p:sp>
        <p:nvSpPr>
          <p:cNvPr id="35" name="Text 2"/>
          <p:cNvSpPr/>
          <p:nvPr/>
        </p:nvSpPr>
        <p:spPr>
          <a:xfrm>
            <a:off x="762000" y="1714500"/>
            <a:ext cx="21336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Binary .bin files with shape (N, 4) representing points as (x, y, z, intensity)</a:t>
            </a:r>
            <a:endParaRPr lang="en-US" sz="1050" dirty="0"/>
          </a:p>
        </p:txBody>
      </p:sp>
      <p:sp>
        <p:nvSpPr>
          <p:cNvPr id="36" name="Text 3"/>
          <p:cNvSpPr/>
          <p:nvPr/>
        </p:nvSpPr>
        <p:spPr>
          <a:xfrm>
            <a:off x="9560621" y="1326793"/>
            <a:ext cx="2560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Camera Input</a:t>
            </a:r>
            <a:endParaRPr lang="en-US" sz="1500" dirty="0"/>
          </a:p>
        </p:txBody>
      </p:sp>
      <p:sp>
        <p:nvSpPr>
          <p:cNvPr id="37" name="Text 4"/>
          <p:cNvSpPr/>
          <p:nvPr/>
        </p:nvSpPr>
        <p:spPr>
          <a:xfrm>
            <a:off x="9255821" y="1669693"/>
            <a:ext cx="2133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.png image files with shape (3, H, W) in RGB format</a:t>
            </a:r>
            <a:endParaRPr lang="en-US" sz="1050" dirty="0"/>
          </a:p>
        </p:txBody>
      </p:sp>
      <p:sp>
        <p:nvSpPr>
          <p:cNvPr id="38" name="Text 5"/>
          <p:cNvSpPr/>
          <p:nvPr/>
        </p:nvSpPr>
        <p:spPr>
          <a:xfrm>
            <a:off x="1098506" y="3009900"/>
            <a:ext cx="23622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D4B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Point Cloud Processing</a:t>
            </a:r>
            <a:endParaRPr lang="en-US" sz="1500" dirty="0"/>
          </a:p>
        </p:txBody>
      </p:sp>
      <p:sp>
        <p:nvSpPr>
          <p:cNvPr id="39" name="Text 6"/>
          <p:cNvSpPr/>
          <p:nvPr/>
        </p:nvSpPr>
        <p:spPr>
          <a:xfrm>
            <a:off x="1003256" y="3657600"/>
            <a:ext cx="21526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Subsampling</a:t>
            </a: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 Max 50,000 points per scan</a:t>
            </a:r>
            <a:endParaRPr lang="en-US" sz="1050" dirty="0"/>
          </a:p>
        </p:txBody>
      </p:sp>
      <p:sp>
        <p:nvSpPr>
          <p:cNvPr id="40" name="Text 7"/>
          <p:cNvSpPr/>
          <p:nvPr/>
        </p:nvSpPr>
        <p:spPr>
          <a:xfrm>
            <a:off x="1003256" y="4114800"/>
            <a:ext cx="21526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Zero-padding</a:t>
            </a: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 Ensure consistent input size</a:t>
            </a:r>
            <a:endParaRPr lang="en-US" sz="1050" dirty="0"/>
          </a:p>
        </p:txBody>
      </p:sp>
      <p:sp>
        <p:nvSpPr>
          <p:cNvPr id="41" name="Text 8"/>
          <p:cNvSpPr/>
          <p:nvPr/>
        </p:nvSpPr>
        <p:spPr>
          <a:xfrm>
            <a:off x="1003256" y="4572000"/>
            <a:ext cx="21526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Normalization</a:t>
            </a: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 Preserves metric relationships</a:t>
            </a:r>
            <a:endParaRPr lang="en-US" sz="1050" dirty="0"/>
          </a:p>
        </p:txBody>
      </p:sp>
      <p:sp>
        <p:nvSpPr>
          <p:cNvPr id="42" name="Text 9"/>
          <p:cNvSpPr/>
          <p:nvPr/>
        </p:nvSpPr>
        <p:spPr>
          <a:xfrm>
            <a:off x="9598721" y="3009900"/>
            <a:ext cx="2834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Image Processing</a:t>
            </a:r>
            <a:endParaRPr lang="en-US" sz="1500" dirty="0"/>
          </a:p>
        </p:txBody>
      </p:sp>
      <p:sp>
        <p:nvSpPr>
          <p:cNvPr id="43" name="Text 10"/>
          <p:cNvSpPr/>
          <p:nvPr/>
        </p:nvSpPr>
        <p:spPr>
          <a:xfrm>
            <a:off x="9484421" y="3390900"/>
            <a:ext cx="24028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Resizing</a:t>
            </a: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 To 256 x 512 pixels</a:t>
            </a:r>
            <a:endParaRPr lang="en-US" sz="1050" dirty="0"/>
          </a:p>
        </p:txBody>
      </p:sp>
      <p:sp>
        <p:nvSpPr>
          <p:cNvPr id="44" name="Text 11"/>
          <p:cNvSpPr/>
          <p:nvPr/>
        </p:nvSpPr>
        <p:spPr>
          <a:xfrm>
            <a:off x="9503471" y="3657600"/>
            <a:ext cx="21526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Normalization</a:t>
            </a: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 Pixel values to [0, 1]</a:t>
            </a:r>
            <a:endParaRPr lang="en-US" sz="1050" dirty="0"/>
          </a:p>
        </p:txBody>
      </p:sp>
      <p:sp>
        <p:nvSpPr>
          <p:cNvPr id="45" name="Text 12"/>
          <p:cNvSpPr/>
          <p:nvPr/>
        </p:nvSpPr>
        <p:spPr>
          <a:xfrm>
            <a:off x="9503471" y="4114800"/>
            <a:ext cx="21526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Channel Ordering</a:t>
            </a: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 (H, W, C) to (C, H, W)</a:t>
            </a:r>
            <a:endParaRPr lang="en-US" sz="1050" dirty="0"/>
          </a:p>
        </p:txBody>
      </p:sp>
      <p:sp>
        <p:nvSpPr>
          <p:cNvPr id="46" name="Text 13"/>
          <p:cNvSpPr/>
          <p:nvPr/>
        </p:nvSpPr>
        <p:spPr>
          <a:xfrm>
            <a:off x="5270456" y="3009900"/>
            <a:ext cx="28346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Synchronization</a:t>
            </a:r>
            <a:endParaRPr lang="en-US" sz="1500" dirty="0"/>
          </a:p>
        </p:txBody>
      </p:sp>
      <p:sp>
        <p:nvSpPr>
          <p:cNvPr id="47" name="Text 14"/>
          <p:cNvSpPr/>
          <p:nvPr/>
        </p:nvSpPr>
        <p:spPr>
          <a:xfrm>
            <a:off x="5146631" y="3390900"/>
            <a:ext cx="218122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Temporal Alignment</a:t>
            </a: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 Ensures time correspondence</a:t>
            </a:r>
            <a:endParaRPr lang="en-US" sz="1050" dirty="0"/>
          </a:p>
        </p:txBody>
      </p:sp>
      <p:sp>
        <p:nvSpPr>
          <p:cNvPr id="48" name="Text 15"/>
          <p:cNvSpPr/>
          <p:nvPr/>
        </p:nvSpPr>
        <p:spPr>
          <a:xfrm>
            <a:off x="5213306" y="3848100"/>
            <a:ext cx="211455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Matching</a:t>
            </a: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: Based on file indices (e.g., 0000000000 to 0000001000)</a:t>
            </a:r>
            <a:endParaRPr lang="en-US" sz="1050" dirty="0"/>
          </a:p>
        </p:txBody>
      </p:sp>
      <p:sp>
        <p:nvSpPr>
          <p:cNvPr id="49" name="Text 16"/>
          <p:cNvSpPr/>
          <p:nvPr/>
        </p:nvSpPr>
        <p:spPr>
          <a:xfrm>
            <a:off x="4781550" y="5614178"/>
            <a:ext cx="40233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D4B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Preprocessed Output</a:t>
            </a:r>
            <a:endParaRPr lang="en-US" sz="1500" dirty="0"/>
          </a:p>
        </p:txBody>
      </p:sp>
      <p:sp>
        <p:nvSpPr>
          <p:cNvPr id="50" name="Text 17"/>
          <p:cNvSpPr/>
          <p:nvPr/>
        </p:nvSpPr>
        <p:spPr>
          <a:xfrm>
            <a:off x="4686300" y="5957078"/>
            <a:ext cx="122217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LiDAR:</a:t>
            </a:r>
            <a:endParaRPr lang="en-US" sz="1050" dirty="0"/>
          </a:p>
        </p:txBody>
      </p:sp>
      <p:sp>
        <p:nvSpPr>
          <p:cNvPr id="51" name="Text 18"/>
          <p:cNvSpPr/>
          <p:nvPr/>
        </p:nvSpPr>
        <p:spPr>
          <a:xfrm>
            <a:off x="4705350" y="6185678"/>
            <a:ext cx="1466612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(batch, 50000, 4)</a:t>
            </a:r>
            <a:endParaRPr lang="en-US" sz="900" dirty="0"/>
          </a:p>
        </p:txBody>
      </p:sp>
      <p:sp>
        <p:nvSpPr>
          <p:cNvPr id="52" name="Text 19"/>
          <p:cNvSpPr/>
          <p:nvPr/>
        </p:nvSpPr>
        <p:spPr>
          <a:xfrm>
            <a:off x="6671518" y="5957078"/>
            <a:ext cx="136758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Image:</a:t>
            </a:r>
            <a:endParaRPr lang="en-US" sz="1050" dirty="0"/>
          </a:p>
        </p:txBody>
      </p:sp>
      <p:sp>
        <p:nvSpPr>
          <p:cNvPr id="53" name="Text 20"/>
          <p:cNvSpPr/>
          <p:nvPr/>
        </p:nvSpPr>
        <p:spPr>
          <a:xfrm>
            <a:off x="6690568" y="6185678"/>
            <a:ext cx="1641098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(batch, 3, 256, 512)</a:t>
            </a:r>
            <a:endParaRPr lang="en-US" sz="9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F319F41-12BD-649D-3926-15DF870A3E89}"/>
              </a:ext>
            </a:extLst>
          </p:cNvPr>
          <p:cNvSpPr/>
          <p:nvPr/>
        </p:nvSpPr>
        <p:spPr>
          <a:xfrm>
            <a:off x="4919989" y="1842920"/>
            <a:ext cx="2634508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MIDDLE-FUSION</a:t>
            </a:r>
            <a:endParaRPr lang="en-US"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219200"/>
            <a:ext cx="2438400" cy="800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371600"/>
            <a:ext cx="17145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1609725"/>
            <a:ext cx="609600" cy="190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86100" y="1295400"/>
            <a:ext cx="8534400" cy="647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62300" y="1447800"/>
            <a:ext cx="17145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2171700"/>
            <a:ext cx="2628900" cy="3124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2171700"/>
            <a:ext cx="26289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2286000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3009900"/>
            <a:ext cx="66675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3467100"/>
            <a:ext cx="66675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81375" y="2195513"/>
            <a:ext cx="2628900" cy="3124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390900" y="2171700"/>
            <a:ext cx="26289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67100" y="22860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43300" y="3009900"/>
            <a:ext cx="66675" cy="1333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43300" y="3276600"/>
            <a:ext cx="66675" cy="1333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72200" y="2171700"/>
            <a:ext cx="2628900" cy="3124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72200" y="2171700"/>
            <a:ext cx="26289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48400" y="22860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3009900"/>
            <a:ext cx="66675" cy="13335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24600" y="3467100"/>
            <a:ext cx="66675" cy="1333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53500" y="2171700"/>
            <a:ext cx="2628900" cy="31242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53500" y="2171700"/>
            <a:ext cx="2628900" cy="3810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029700" y="228600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05900" y="3009900"/>
            <a:ext cx="66675" cy="13335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05900" y="3276600"/>
            <a:ext cx="66675" cy="1333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62000" y="5838825"/>
            <a:ext cx="609600" cy="1905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9600" y="5448300"/>
            <a:ext cx="10972800" cy="8001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23900" y="5600700"/>
            <a:ext cx="152400" cy="1524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609600" y="381000"/>
            <a:ext cx="1316736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LiDAR Backbone - PointPillars</a:t>
            </a:r>
            <a:endParaRPr lang="en-US" sz="2700" dirty="0"/>
          </a:p>
        </p:txBody>
      </p:sp>
      <p:sp>
        <p:nvSpPr>
          <p:cNvPr id="34" name="Text 1"/>
          <p:cNvSpPr/>
          <p:nvPr/>
        </p:nvSpPr>
        <p:spPr>
          <a:xfrm>
            <a:off x="971550" y="1333500"/>
            <a:ext cx="2209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D4B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Input</a:t>
            </a:r>
            <a:endParaRPr lang="en-US" sz="1200" dirty="0"/>
          </a:p>
        </p:txBody>
      </p:sp>
      <p:sp>
        <p:nvSpPr>
          <p:cNvPr id="35" name="Text 2"/>
          <p:cNvSpPr/>
          <p:nvPr/>
        </p:nvSpPr>
        <p:spPr>
          <a:xfrm>
            <a:off x="723900" y="1562100"/>
            <a:ext cx="26517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36" name="Text 3"/>
          <p:cNvSpPr/>
          <p:nvPr/>
        </p:nvSpPr>
        <p:spPr>
          <a:xfrm>
            <a:off x="723900" y="1752600"/>
            <a:ext cx="265176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(x, y, z, intensity)</a:t>
            </a:r>
            <a:endParaRPr lang="en-US" sz="900" dirty="0"/>
          </a:p>
        </p:txBody>
      </p:sp>
      <p:sp>
        <p:nvSpPr>
          <p:cNvPr id="37" name="Text 4"/>
          <p:cNvSpPr/>
          <p:nvPr/>
        </p:nvSpPr>
        <p:spPr>
          <a:xfrm>
            <a:off x="3409950" y="1409700"/>
            <a:ext cx="83058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D4B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PointPillars Architecture</a:t>
            </a:r>
            <a:endParaRPr lang="en-US" sz="1200" dirty="0"/>
          </a:p>
        </p:txBody>
      </p:sp>
      <p:sp>
        <p:nvSpPr>
          <p:cNvPr id="38" name="Text 5"/>
          <p:cNvSpPr/>
          <p:nvPr/>
        </p:nvSpPr>
        <p:spPr>
          <a:xfrm>
            <a:off x="3162300" y="1638300"/>
            <a:ext cx="99669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Simplified for efficient feature extraction from point clouds</a:t>
            </a:r>
            <a:endParaRPr lang="en-US" sz="1050" dirty="0"/>
          </a:p>
        </p:txBody>
      </p:sp>
      <p:sp>
        <p:nvSpPr>
          <p:cNvPr id="39" name="Text 6"/>
          <p:cNvSpPr/>
          <p:nvPr/>
        </p:nvSpPr>
        <p:spPr>
          <a:xfrm>
            <a:off x="914400" y="2247900"/>
            <a:ext cx="2476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Stage 1</a:t>
            </a:r>
            <a:endParaRPr lang="en-US" sz="1200" dirty="0"/>
          </a:p>
        </p:txBody>
      </p:sp>
      <p:sp>
        <p:nvSpPr>
          <p:cNvPr id="40" name="Text 7"/>
          <p:cNvSpPr/>
          <p:nvPr/>
        </p:nvSpPr>
        <p:spPr>
          <a:xfrm>
            <a:off x="762000" y="2667000"/>
            <a:ext cx="2788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2DD4B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Point-wise Feature Extraction</a:t>
            </a:r>
            <a:endParaRPr lang="en-US" sz="1200" dirty="0"/>
          </a:p>
        </p:txBody>
      </p:sp>
      <p:sp>
        <p:nvSpPr>
          <p:cNvPr id="41" name="Text 8"/>
          <p:cNvSpPr/>
          <p:nvPr/>
        </p:nvSpPr>
        <p:spPr>
          <a:xfrm>
            <a:off x="904875" y="2971800"/>
            <a:ext cx="218122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MLP layers with BatchNorm &amp; ReLU</a:t>
            </a:r>
            <a:endParaRPr lang="en-US" sz="1050" dirty="0"/>
          </a:p>
        </p:txBody>
      </p:sp>
      <p:sp>
        <p:nvSpPr>
          <p:cNvPr id="42" name="Text 9"/>
          <p:cNvSpPr/>
          <p:nvPr/>
        </p:nvSpPr>
        <p:spPr>
          <a:xfrm>
            <a:off x="904875" y="3429000"/>
            <a:ext cx="25628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Linear(4→64) → Linear(64→256)</a:t>
            </a:r>
            <a:endParaRPr lang="en-US" sz="1050" dirty="0"/>
          </a:p>
        </p:txBody>
      </p:sp>
      <p:sp>
        <p:nvSpPr>
          <p:cNvPr id="43" name="Text 10"/>
          <p:cNvSpPr/>
          <p:nvPr/>
        </p:nvSpPr>
        <p:spPr>
          <a:xfrm>
            <a:off x="762000" y="4922341"/>
            <a:ext cx="2324100" cy="4116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(batch, num_points, 256)</a:t>
            </a:r>
            <a:endParaRPr lang="en-US" sz="1080" dirty="0"/>
          </a:p>
        </p:txBody>
      </p:sp>
      <p:sp>
        <p:nvSpPr>
          <p:cNvPr id="44" name="Text 11"/>
          <p:cNvSpPr/>
          <p:nvPr/>
        </p:nvSpPr>
        <p:spPr>
          <a:xfrm>
            <a:off x="3695700" y="2247900"/>
            <a:ext cx="2476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Stage 2</a:t>
            </a:r>
            <a:endParaRPr lang="en-US" sz="1200" dirty="0"/>
          </a:p>
        </p:txBody>
      </p:sp>
      <p:sp>
        <p:nvSpPr>
          <p:cNvPr id="45" name="Text 12"/>
          <p:cNvSpPr/>
          <p:nvPr/>
        </p:nvSpPr>
        <p:spPr>
          <a:xfrm>
            <a:off x="3543300" y="2667000"/>
            <a:ext cx="2788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Global Feature Aggregation</a:t>
            </a:r>
            <a:endParaRPr lang="en-US" sz="1200" dirty="0"/>
          </a:p>
        </p:txBody>
      </p:sp>
      <p:sp>
        <p:nvSpPr>
          <p:cNvPr id="46" name="Text 13"/>
          <p:cNvSpPr/>
          <p:nvPr/>
        </p:nvSpPr>
        <p:spPr>
          <a:xfrm>
            <a:off x="3686175" y="2971800"/>
            <a:ext cx="231511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Max </a:t>
            </a:r>
            <a:r>
              <a:rPr lang="en-US" sz="1050" dirty="0">
                <a:solidFill>
                  <a:srgbClr val="FFFF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pooling across all points</a:t>
            </a:r>
            <a:endParaRPr lang="en-US" sz="1050" dirty="0">
              <a:solidFill>
                <a:srgbClr val="FFFF00"/>
              </a:solidFill>
            </a:endParaRPr>
          </a:p>
        </p:txBody>
      </p:sp>
      <p:sp>
        <p:nvSpPr>
          <p:cNvPr id="47" name="Text 14"/>
          <p:cNvSpPr/>
          <p:nvPr/>
        </p:nvSpPr>
        <p:spPr>
          <a:xfrm>
            <a:off x="3686175" y="3238500"/>
            <a:ext cx="255621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Captures global scene structure</a:t>
            </a:r>
            <a:endParaRPr lang="en-US" sz="1050" dirty="0"/>
          </a:p>
        </p:txBody>
      </p:sp>
      <p:sp>
        <p:nvSpPr>
          <p:cNvPr id="48" name="Text 15"/>
          <p:cNvSpPr/>
          <p:nvPr/>
        </p:nvSpPr>
        <p:spPr>
          <a:xfrm>
            <a:off x="3543300" y="4937671"/>
            <a:ext cx="2788920" cy="2058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(batch, 256)</a:t>
            </a:r>
            <a:endParaRPr lang="en-US" sz="1080" dirty="0"/>
          </a:p>
        </p:txBody>
      </p:sp>
      <p:sp>
        <p:nvSpPr>
          <p:cNvPr id="49" name="Text 16"/>
          <p:cNvSpPr/>
          <p:nvPr/>
        </p:nvSpPr>
        <p:spPr>
          <a:xfrm>
            <a:off x="6477000" y="2247900"/>
            <a:ext cx="2476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Stage 3</a:t>
            </a:r>
            <a:endParaRPr lang="en-US" sz="1200" dirty="0"/>
          </a:p>
        </p:txBody>
      </p:sp>
      <p:sp>
        <p:nvSpPr>
          <p:cNvPr id="50" name="Text 17"/>
          <p:cNvSpPr/>
          <p:nvPr/>
        </p:nvSpPr>
        <p:spPr>
          <a:xfrm>
            <a:off x="6324600" y="2667000"/>
            <a:ext cx="2788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Bird's Eye View Generation</a:t>
            </a:r>
            <a:endParaRPr lang="en-US" sz="1200" dirty="0"/>
          </a:p>
        </p:txBody>
      </p:sp>
      <p:sp>
        <p:nvSpPr>
          <p:cNvPr id="51" name="Text 18"/>
          <p:cNvSpPr/>
          <p:nvPr/>
        </p:nvSpPr>
        <p:spPr>
          <a:xfrm>
            <a:off x="6467475" y="2971800"/>
            <a:ext cx="218122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Expands </a:t>
            </a:r>
            <a:r>
              <a:rPr lang="en-US" sz="1050" dirty="0">
                <a:solidFill>
                  <a:srgbClr val="FFFF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global features to 2D grid</a:t>
            </a:r>
            <a:endParaRPr lang="en-US" sz="1050" dirty="0">
              <a:solidFill>
                <a:srgbClr val="FFFF00"/>
              </a:solidFill>
            </a:endParaRPr>
          </a:p>
        </p:txBody>
      </p:sp>
      <p:sp>
        <p:nvSpPr>
          <p:cNvPr id="52" name="Text 19"/>
          <p:cNvSpPr/>
          <p:nvPr/>
        </p:nvSpPr>
        <p:spPr>
          <a:xfrm>
            <a:off x="6467475" y="3429000"/>
            <a:ext cx="2181225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Creates pseudo-image representation</a:t>
            </a:r>
            <a:endParaRPr lang="en-US" sz="1050" dirty="0"/>
          </a:p>
        </p:txBody>
      </p:sp>
      <p:sp>
        <p:nvSpPr>
          <p:cNvPr id="53" name="Text 20"/>
          <p:cNvSpPr/>
          <p:nvPr/>
        </p:nvSpPr>
        <p:spPr>
          <a:xfrm>
            <a:off x="6324600" y="4937671"/>
            <a:ext cx="2788920" cy="2058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(batch, 256, 64, 64)</a:t>
            </a:r>
            <a:endParaRPr lang="en-US" sz="1080" dirty="0"/>
          </a:p>
        </p:txBody>
      </p:sp>
      <p:sp>
        <p:nvSpPr>
          <p:cNvPr id="54" name="Text 21"/>
          <p:cNvSpPr/>
          <p:nvPr/>
        </p:nvSpPr>
        <p:spPr>
          <a:xfrm>
            <a:off x="9258300" y="2247900"/>
            <a:ext cx="2476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Stage 4</a:t>
            </a:r>
            <a:endParaRPr lang="en-US" sz="1200" dirty="0"/>
          </a:p>
        </p:txBody>
      </p:sp>
      <p:sp>
        <p:nvSpPr>
          <p:cNvPr id="55" name="Text 22"/>
          <p:cNvSpPr/>
          <p:nvPr/>
        </p:nvSpPr>
        <p:spPr>
          <a:xfrm>
            <a:off x="9105900" y="2667000"/>
            <a:ext cx="2788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2D CNN (convolution net.)Processing</a:t>
            </a:r>
            <a:endParaRPr lang="en-US" sz="1200" dirty="0"/>
          </a:p>
        </p:txBody>
      </p:sp>
      <p:sp>
        <p:nvSpPr>
          <p:cNvPr id="56" name="Text 23"/>
          <p:cNvSpPr/>
          <p:nvPr/>
        </p:nvSpPr>
        <p:spPr>
          <a:xfrm>
            <a:off x="9248775" y="2971800"/>
            <a:ext cx="258085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Conv2d(256→512) + BN + ReLU</a:t>
            </a:r>
            <a:endParaRPr lang="en-US" sz="1050" dirty="0"/>
          </a:p>
        </p:txBody>
      </p:sp>
      <p:sp>
        <p:nvSpPr>
          <p:cNvPr id="57" name="Text 24"/>
          <p:cNvSpPr/>
          <p:nvPr/>
        </p:nvSpPr>
        <p:spPr>
          <a:xfrm>
            <a:off x="9248775" y="3238500"/>
            <a:ext cx="258085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Conv2d(512→512) + BN + ReLU</a:t>
            </a:r>
            <a:endParaRPr lang="en-US" sz="1050" dirty="0"/>
          </a:p>
        </p:txBody>
      </p:sp>
      <p:sp>
        <p:nvSpPr>
          <p:cNvPr id="58" name="Text 25"/>
          <p:cNvSpPr/>
          <p:nvPr/>
        </p:nvSpPr>
        <p:spPr>
          <a:xfrm>
            <a:off x="9105900" y="4937671"/>
            <a:ext cx="2788920" cy="20582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620"/>
              </a:lnSpc>
              <a:buNone/>
            </a:pPr>
            <a:r>
              <a:rPr lang="en-US" sz="1080" dirty="0">
                <a:solidFill>
                  <a:srgbClr val="00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(batch, 512, 16, 16)</a:t>
            </a:r>
            <a:endParaRPr lang="en-US" sz="1080" dirty="0"/>
          </a:p>
        </p:txBody>
      </p:sp>
      <p:sp>
        <p:nvSpPr>
          <p:cNvPr id="59" name="Text 26"/>
          <p:cNvSpPr/>
          <p:nvPr/>
        </p:nvSpPr>
        <p:spPr>
          <a:xfrm>
            <a:off x="952500" y="5562600"/>
            <a:ext cx="107442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DD4B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Final Output</a:t>
            </a:r>
            <a:endParaRPr lang="en-US" sz="1200" dirty="0"/>
          </a:p>
        </p:txBody>
      </p:sp>
      <p:sp>
        <p:nvSpPr>
          <p:cNvPr id="60" name="Text 27"/>
          <p:cNvSpPr/>
          <p:nvPr/>
        </p:nvSpPr>
        <p:spPr>
          <a:xfrm>
            <a:off x="723900" y="5791200"/>
            <a:ext cx="10744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(batch, 512, 16, 16)</a:t>
            </a:r>
            <a:endParaRPr lang="en-US" sz="1050" dirty="0"/>
          </a:p>
        </p:txBody>
      </p:sp>
      <p:sp>
        <p:nvSpPr>
          <p:cNvPr id="61" name="Text 28"/>
          <p:cNvSpPr/>
          <p:nvPr/>
        </p:nvSpPr>
        <p:spPr>
          <a:xfrm>
            <a:off x="723900" y="5981700"/>
            <a:ext cx="10744200" cy="152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Compact feature map for fusion with camera data</a:t>
            </a:r>
            <a:endParaRPr lang="en-US" sz="900" dirty="0"/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932856AD-45A5-DDB5-3255-685B13E55ABA}"/>
              </a:ext>
            </a:extLst>
          </p:cNvPr>
          <p:cNvSpPr/>
          <p:nvPr/>
        </p:nvSpPr>
        <p:spPr>
          <a:xfrm>
            <a:off x="9206121" y="4107135"/>
            <a:ext cx="258085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Batch Normalization + </a:t>
            </a:r>
            <a:r>
              <a:rPr lang="en-US" sz="105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ReLU</a:t>
            </a: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to get:</a:t>
            </a:r>
          </a:p>
          <a:p>
            <a:pPr marL="171450" indent="-171450" algn="l">
              <a:lnSpc>
                <a:spcPts val="1500"/>
              </a:lnSpc>
              <a:buFontTx/>
              <a:buChar char="-"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Stability </a:t>
            </a:r>
          </a:p>
          <a:p>
            <a:pPr marL="171450" indent="-171450" algn="l">
              <a:lnSpc>
                <a:spcPts val="1500"/>
              </a:lnSpc>
              <a:buFontTx/>
              <a:buChar char="-"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Faster training </a:t>
            </a:r>
            <a:endParaRPr lang="en-US" sz="1050" dirty="0"/>
          </a:p>
        </p:txBody>
      </p:sp>
      <p:sp>
        <p:nvSpPr>
          <p:cNvPr id="62" name="Text 14">
            <a:extLst>
              <a:ext uri="{FF2B5EF4-FFF2-40B4-BE49-F238E27FC236}">
                <a16:creationId xmlns:a16="http://schemas.microsoft.com/office/drawing/2014/main" id="{2CA30D65-29E6-5A10-2FEC-8711F3675920}"/>
              </a:ext>
            </a:extLst>
          </p:cNvPr>
          <p:cNvSpPr/>
          <p:nvPr/>
        </p:nvSpPr>
        <p:spPr>
          <a:xfrm>
            <a:off x="3550920" y="3779476"/>
            <a:ext cx="255621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One global vector for the feature of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the scene</a:t>
            </a:r>
            <a:endParaRPr lang="en-US" sz="1050" dirty="0"/>
          </a:p>
        </p:txBody>
      </p:sp>
      <p:sp>
        <p:nvSpPr>
          <p:cNvPr id="64" name="Text 14">
            <a:extLst>
              <a:ext uri="{FF2B5EF4-FFF2-40B4-BE49-F238E27FC236}">
                <a16:creationId xmlns:a16="http://schemas.microsoft.com/office/drawing/2014/main" id="{9CC2962F-9A47-A694-CEB6-0271E595414C}"/>
              </a:ext>
            </a:extLst>
          </p:cNvPr>
          <p:cNvSpPr/>
          <p:nvPr/>
        </p:nvSpPr>
        <p:spPr>
          <a:xfrm>
            <a:off x="6332220" y="3825673"/>
            <a:ext cx="255621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From 3d to 2d </a:t>
            </a:r>
          </a:p>
        </p:txBody>
      </p:sp>
      <p:sp>
        <p:nvSpPr>
          <p:cNvPr id="65" name="Text 14">
            <a:extLst>
              <a:ext uri="{FF2B5EF4-FFF2-40B4-BE49-F238E27FC236}">
                <a16:creationId xmlns:a16="http://schemas.microsoft.com/office/drawing/2014/main" id="{2FEB8420-AB22-03EF-EEFC-1A0225AAB78B}"/>
              </a:ext>
            </a:extLst>
          </p:cNvPr>
          <p:cNvSpPr/>
          <p:nvPr/>
        </p:nvSpPr>
        <p:spPr>
          <a:xfrm>
            <a:off x="9096375" y="3802769"/>
            <a:ext cx="2556212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Process BEV with convolutional net.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247775"/>
            <a:ext cx="28575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676400"/>
            <a:ext cx="6278761" cy="800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866900"/>
            <a:ext cx="342900" cy="419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1943100"/>
            <a:ext cx="19050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628900"/>
            <a:ext cx="6278761" cy="800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819400"/>
            <a:ext cx="342900" cy="419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8200" y="2895600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3581400"/>
            <a:ext cx="6278761" cy="800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3771900"/>
            <a:ext cx="342900" cy="419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8200" y="3848100"/>
            <a:ext cx="19050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4533900"/>
            <a:ext cx="6278761" cy="800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00" y="4724400"/>
            <a:ext cx="342900" cy="419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200" y="4800600"/>
            <a:ext cx="19050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5486400"/>
            <a:ext cx="6278761" cy="800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5676900"/>
            <a:ext cx="323850" cy="419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8200" y="5753100"/>
            <a:ext cx="171450" cy="266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97961" y="1247775"/>
            <a:ext cx="228600" cy="228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97961" y="1676400"/>
            <a:ext cx="4084290" cy="1524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88461" y="1905000"/>
            <a:ext cx="1714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88461" y="22098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88461" y="2514600"/>
            <a:ext cx="17145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88461" y="28194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497961" y="3457575"/>
            <a:ext cx="171450" cy="2286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97961" y="3886200"/>
            <a:ext cx="4084290" cy="12192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688461" y="411480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688461" y="4419600"/>
            <a:ext cx="1524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688461" y="4724400"/>
            <a:ext cx="152400" cy="1524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609600" y="381000"/>
            <a:ext cx="109728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Image Backbone - ResNet50</a:t>
            </a:r>
            <a:endParaRPr lang="en-US" sz="2700" dirty="0"/>
          </a:p>
        </p:txBody>
      </p:sp>
      <p:sp>
        <p:nvSpPr>
          <p:cNvPr id="33" name="Text 1"/>
          <p:cNvSpPr/>
          <p:nvPr/>
        </p:nvSpPr>
        <p:spPr>
          <a:xfrm>
            <a:off x="1009650" y="1219200"/>
            <a:ext cx="753451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DD4B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 Extraction Pipeline</a:t>
            </a:r>
            <a:endParaRPr lang="en-US" sz="1800" dirty="0"/>
          </a:p>
        </p:txBody>
      </p:sp>
      <p:sp>
        <p:nvSpPr>
          <p:cNvPr id="34" name="Text 2"/>
          <p:cNvSpPr/>
          <p:nvPr/>
        </p:nvSpPr>
        <p:spPr>
          <a:xfrm>
            <a:off x="1257300" y="1828800"/>
            <a:ext cx="151864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Input</a:t>
            </a:r>
            <a:endParaRPr lang="en-US" sz="1350" dirty="0"/>
          </a:p>
        </p:txBody>
      </p:sp>
      <p:sp>
        <p:nvSpPr>
          <p:cNvPr id="35" name="Text 3"/>
          <p:cNvSpPr/>
          <p:nvPr/>
        </p:nvSpPr>
        <p:spPr>
          <a:xfrm>
            <a:off x="1257300" y="2095500"/>
            <a:ext cx="446074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(batch, 3, 256, 512)  3=RGB channels; 256 Height; 512 Width</a:t>
            </a:r>
            <a:endParaRPr lang="en-US" sz="1200" dirty="0"/>
          </a:p>
        </p:txBody>
      </p:sp>
      <p:sp>
        <p:nvSpPr>
          <p:cNvPr id="36" name="Text 4"/>
          <p:cNvSpPr/>
          <p:nvPr/>
        </p:nvSpPr>
        <p:spPr>
          <a:xfrm>
            <a:off x="1257300" y="2781300"/>
            <a:ext cx="409842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Initial Convolution</a:t>
            </a:r>
            <a:endParaRPr lang="en-US" sz="1350" dirty="0"/>
          </a:p>
        </p:txBody>
      </p:sp>
      <p:sp>
        <p:nvSpPr>
          <p:cNvPr id="37" name="Text 5"/>
          <p:cNvSpPr/>
          <p:nvPr/>
        </p:nvSpPr>
        <p:spPr>
          <a:xfrm>
            <a:off x="1257300" y="3048000"/>
            <a:ext cx="491811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7×7 convolution with step of 2p → (batch, 64, 128, 128)</a:t>
            </a:r>
            <a:endParaRPr lang="en-US" sz="1200" dirty="0"/>
          </a:p>
        </p:txBody>
      </p:sp>
      <p:sp>
        <p:nvSpPr>
          <p:cNvPr id="38" name="Text 6"/>
          <p:cNvSpPr/>
          <p:nvPr/>
        </p:nvSpPr>
        <p:spPr>
          <a:xfrm>
            <a:off x="1257300" y="3733800"/>
            <a:ext cx="405526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Max Pooling</a:t>
            </a:r>
            <a:endParaRPr lang="en-US" sz="1350" dirty="0"/>
          </a:p>
        </p:txBody>
      </p:sp>
      <p:sp>
        <p:nvSpPr>
          <p:cNvPr id="39" name="Text 7"/>
          <p:cNvSpPr/>
          <p:nvPr/>
        </p:nvSpPr>
        <p:spPr>
          <a:xfrm>
            <a:off x="1257300" y="4000500"/>
            <a:ext cx="486632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3×3 max pooling with step of 2 → (batch, 64, 64, 128)</a:t>
            </a:r>
            <a:endParaRPr lang="en-US" sz="1200" dirty="0"/>
          </a:p>
        </p:txBody>
      </p:sp>
      <p:sp>
        <p:nvSpPr>
          <p:cNvPr id="40" name="Text 8"/>
          <p:cNvSpPr/>
          <p:nvPr/>
        </p:nvSpPr>
        <p:spPr>
          <a:xfrm>
            <a:off x="1257300" y="4686300"/>
            <a:ext cx="502964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Residual Blocks</a:t>
            </a:r>
            <a:endParaRPr lang="en-US" sz="1350" dirty="0"/>
          </a:p>
        </p:txBody>
      </p:sp>
      <p:sp>
        <p:nvSpPr>
          <p:cNvPr id="41" name="Text 9"/>
          <p:cNvSpPr/>
          <p:nvPr/>
        </p:nvSpPr>
        <p:spPr>
          <a:xfrm>
            <a:off x="1257300" y="4953000"/>
            <a:ext cx="603557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Four layers extracting hierarchical features → (batch, 2048, 8, 16)</a:t>
            </a:r>
            <a:endParaRPr lang="en-US" sz="1200" dirty="0"/>
          </a:p>
        </p:txBody>
      </p:sp>
      <p:sp>
        <p:nvSpPr>
          <p:cNvPr id="42" name="Text 10"/>
          <p:cNvSpPr/>
          <p:nvPr/>
        </p:nvSpPr>
        <p:spPr>
          <a:xfrm>
            <a:off x="1238250" y="5638800"/>
            <a:ext cx="348507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Channel Reduction</a:t>
            </a:r>
            <a:endParaRPr lang="en-US" sz="1350" dirty="0"/>
          </a:p>
        </p:txBody>
      </p:sp>
      <p:sp>
        <p:nvSpPr>
          <p:cNvPr id="43" name="Text 11"/>
          <p:cNvSpPr/>
          <p:nvPr/>
        </p:nvSpPr>
        <p:spPr>
          <a:xfrm>
            <a:off x="1238250" y="5905500"/>
            <a:ext cx="348507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1×1 convolution → (batch, 512, 8, 16)</a:t>
            </a:r>
            <a:endParaRPr lang="en-US" sz="1200" dirty="0"/>
          </a:p>
        </p:txBody>
      </p:sp>
      <p:sp>
        <p:nvSpPr>
          <p:cNvPr id="44" name="Text 12"/>
          <p:cNvSpPr/>
          <p:nvPr/>
        </p:nvSpPr>
        <p:spPr>
          <a:xfrm>
            <a:off x="7840861" y="1219200"/>
            <a:ext cx="490114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Feature Characteristics</a:t>
            </a:r>
            <a:endParaRPr lang="en-US" sz="1800" dirty="0"/>
          </a:p>
        </p:txBody>
      </p:sp>
      <p:sp>
        <p:nvSpPr>
          <p:cNvPr id="45" name="Text 13"/>
          <p:cNvSpPr/>
          <p:nvPr/>
        </p:nvSpPr>
        <p:spPr>
          <a:xfrm>
            <a:off x="7974211" y="1866900"/>
            <a:ext cx="322433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Multi-scale hierarchical information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46" name="Text 14"/>
          <p:cNvSpPr/>
          <p:nvPr/>
        </p:nvSpPr>
        <p:spPr>
          <a:xfrm>
            <a:off x="7955161" y="2171700"/>
            <a:ext cx="204775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Rich semantic content</a:t>
            </a:r>
            <a:endParaRPr lang="en-US" sz="1200" dirty="0"/>
          </a:p>
        </p:txBody>
      </p:sp>
      <p:sp>
        <p:nvSpPr>
          <p:cNvPr id="47" name="Text 15"/>
          <p:cNvSpPr/>
          <p:nvPr/>
        </p:nvSpPr>
        <p:spPr>
          <a:xfrm>
            <a:off x="7974211" y="2476500"/>
            <a:ext cx="293786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Perspective view 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representation</a:t>
            </a:r>
            <a:endParaRPr lang="en-US" sz="1200" dirty="0"/>
          </a:p>
        </p:txBody>
      </p:sp>
      <p:sp>
        <p:nvSpPr>
          <p:cNvPr id="48" name="Text 16"/>
          <p:cNvSpPr/>
          <p:nvPr/>
        </p:nvSpPr>
        <p:spPr>
          <a:xfrm>
            <a:off x="7955161" y="2781300"/>
            <a:ext cx="283964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Texture, color, and appearance</a:t>
            </a:r>
            <a:endParaRPr lang="en-US" sz="1200" dirty="0">
              <a:solidFill>
                <a:srgbClr val="FFFF00"/>
              </a:solidFill>
            </a:endParaRPr>
          </a:p>
        </p:txBody>
      </p:sp>
      <p:sp>
        <p:nvSpPr>
          <p:cNvPr id="49" name="Text 17"/>
          <p:cNvSpPr/>
          <p:nvPr/>
        </p:nvSpPr>
        <p:spPr>
          <a:xfrm>
            <a:off x="7783711" y="3429000"/>
            <a:ext cx="408429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DD4B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Benefits</a:t>
            </a:r>
            <a:endParaRPr lang="en-US" sz="1800" dirty="0"/>
          </a:p>
        </p:txBody>
      </p:sp>
      <p:sp>
        <p:nvSpPr>
          <p:cNvPr id="50" name="Text 18"/>
          <p:cNvSpPr/>
          <p:nvPr/>
        </p:nvSpPr>
        <p:spPr>
          <a:xfrm>
            <a:off x="7955161" y="4076700"/>
            <a:ext cx="320879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Strong initialization from ImageNet</a:t>
            </a:r>
            <a:endParaRPr lang="en-US" sz="1200" dirty="0"/>
          </a:p>
        </p:txBody>
      </p:sp>
      <p:sp>
        <p:nvSpPr>
          <p:cNvPr id="51" name="Text 19"/>
          <p:cNvSpPr/>
          <p:nvPr/>
        </p:nvSpPr>
        <p:spPr>
          <a:xfrm>
            <a:off x="7955161" y="4381500"/>
            <a:ext cx="264443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Proven effective architecture</a:t>
            </a:r>
            <a:endParaRPr lang="en-US" sz="1200" dirty="0"/>
          </a:p>
        </p:txBody>
      </p:sp>
      <p:sp>
        <p:nvSpPr>
          <p:cNvPr id="52" name="Text 20"/>
          <p:cNvSpPr/>
          <p:nvPr/>
        </p:nvSpPr>
        <p:spPr>
          <a:xfrm>
            <a:off x="7955161" y="4686300"/>
            <a:ext cx="233368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FFFF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Robust feature extraction</a:t>
            </a:r>
            <a:endParaRPr lang="en-US" sz="1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9E92E-B359-1A8B-D027-834C004A0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86EF405-6F57-B3E3-984F-42FD5D388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CD06B6C7-4437-710A-D64B-9746F5533C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48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9A8596D4-897B-CF1D-A48E-6424FFDC05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4CD9A24A-05C7-F0ED-AC6E-15516026C9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219199"/>
            <a:ext cx="10972800" cy="1506245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2BAE5890-4212-021C-4C6A-3DF1B075D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438275"/>
            <a:ext cx="228600" cy="228600"/>
          </a:xfrm>
          <a:prstGeom prst="rect">
            <a:avLst/>
          </a:prstGeom>
        </p:spPr>
      </p:pic>
      <p:sp>
        <p:nvSpPr>
          <p:cNvPr id="28" name="Text 0">
            <a:extLst>
              <a:ext uri="{FF2B5EF4-FFF2-40B4-BE49-F238E27FC236}">
                <a16:creationId xmlns:a16="http://schemas.microsoft.com/office/drawing/2014/main" id="{8DAD3341-BA2C-BF0E-9252-A31DF50FB8B9}"/>
              </a:ext>
            </a:extLst>
          </p:cNvPr>
          <p:cNvSpPr/>
          <p:nvPr/>
        </p:nvSpPr>
        <p:spPr>
          <a:xfrm>
            <a:off x="609600" y="381000"/>
            <a:ext cx="1316736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FusionModule</a:t>
            </a: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with Attention</a:t>
            </a:r>
            <a:endParaRPr lang="en-US" sz="2700" dirty="0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17FCBDEB-D554-E543-4DF3-CC4634C71C01}"/>
              </a:ext>
            </a:extLst>
          </p:cNvPr>
          <p:cNvSpPr/>
          <p:nvPr/>
        </p:nvSpPr>
        <p:spPr>
          <a:xfrm>
            <a:off x="1143000" y="1409700"/>
            <a:ext cx="10591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DD4B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STEPS</a:t>
            </a:r>
            <a:endParaRPr lang="en-US" sz="1800" dirty="0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1BD63EDC-5C34-3CB7-4E02-C3C3EF2AB47A}"/>
              </a:ext>
            </a:extLst>
          </p:cNvPr>
          <p:cNvSpPr/>
          <p:nvPr/>
        </p:nvSpPr>
        <p:spPr>
          <a:xfrm>
            <a:off x="800100" y="1828800"/>
            <a:ext cx="10591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GOAL: fuse data from lidar and camera in the best possible way</a:t>
            </a:r>
            <a:b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</a:br>
            <a:b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</a:b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which one makes the correct prediction?</a:t>
            </a:r>
            <a:endParaRPr lang="en-US" sz="1200" dirty="0"/>
          </a:p>
        </p:txBody>
      </p:sp>
      <p:sp>
        <p:nvSpPr>
          <p:cNvPr id="7" name="Text 17">
            <a:extLst>
              <a:ext uri="{FF2B5EF4-FFF2-40B4-BE49-F238E27FC236}">
                <a16:creationId xmlns:a16="http://schemas.microsoft.com/office/drawing/2014/main" id="{EBC11246-925B-B54C-8994-EA50A731FB7E}"/>
              </a:ext>
            </a:extLst>
          </p:cNvPr>
          <p:cNvSpPr/>
          <p:nvPr/>
        </p:nvSpPr>
        <p:spPr>
          <a:xfrm>
            <a:off x="609599" y="3375660"/>
            <a:ext cx="10558509" cy="320421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20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STEP 1 </a:t>
            </a:r>
            <a:r>
              <a:rPr lang="en-US" sz="20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sym typeface="Wingdings" panose="05000000000000000000" pitchFamily="2" charset="2"/>
              </a:rPr>
              <a:t></a:t>
            </a:r>
            <a:r>
              <a:rPr lang="en-US" sz="20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 </a:t>
            </a:r>
            <a:r>
              <a:rPr lang="en-US" sz="2000" b="1" dirty="0">
                <a:solidFill>
                  <a:srgbClr val="00B0F0"/>
                </a:solidFill>
                <a:latin typeface="ui-sans-serif" pitchFamily="34" charset="0"/>
                <a:ea typeface="ui-sans-serif" pitchFamily="34" charset="-122"/>
              </a:rPr>
              <a:t>ALLIGNMENT AND CALIBRATION </a:t>
            </a:r>
            <a:r>
              <a:rPr lang="en-US" sz="20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of the two types of lidar and camera data</a:t>
            </a:r>
          </a:p>
          <a:p>
            <a:pPr marL="0" indent="0">
              <a:lnSpc>
                <a:spcPts val="1500"/>
              </a:lnSpc>
              <a:buNone/>
            </a:pPr>
            <a:endParaRPr lang="en-US" sz="2000" dirty="0">
              <a:solidFill>
                <a:srgbClr val="D1D5DB"/>
              </a:solidFill>
              <a:latin typeface="ui-sans-serif" pitchFamily="34" charset="0"/>
              <a:ea typeface="ui-sans-serif" pitchFamily="34" charset="-122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20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STEP 2</a:t>
            </a:r>
            <a:r>
              <a:rPr lang="en-US" sz="20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sym typeface="Wingdings" panose="05000000000000000000" pitchFamily="2" charset="2"/>
              </a:rPr>
              <a:t></a:t>
            </a:r>
            <a:r>
              <a:rPr lang="en-US" sz="20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 </a:t>
            </a:r>
            <a:r>
              <a:rPr lang="en-US" sz="2000" b="1" dirty="0">
                <a:solidFill>
                  <a:srgbClr val="00B0F0"/>
                </a:solidFill>
                <a:latin typeface="ui-sans-serif" pitchFamily="34" charset="0"/>
                <a:ea typeface="ui-sans-serif" pitchFamily="34" charset="-122"/>
              </a:rPr>
              <a:t>32x32 grid</a:t>
            </a:r>
            <a:r>
              <a:rPr lang="en-US" sz="2000" dirty="0">
                <a:solidFill>
                  <a:srgbClr val="00B0F0"/>
                </a:solidFill>
                <a:latin typeface="ui-sans-serif" pitchFamily="34" charset="0"/>
                <a:ea typeface="ui-sans-serif" pitchFamily="34" charset="-122"/>
              </a:rPr>
              <a:t> </a:t>
            </a:r>
            <a:r>
              <a:rPr lang="en-US" sz="20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containing 512 lidar features (info) and 512 camera features</a:t>
            </a:r>
          </a:p>
          <a:p>
            <a:pPr marL="0" indent="0">
              <a:lnSpc>
                <a:spcPts val="1500"/>
              </a:lnSpc>
              <a:buNone/>
            </a:pPr>
            <a:endParaRPr lang="en-US" sz="2000" dirty="0">
              <a:solidFill>
                <a:srgbClr val="D1D5DB"/>
              </a:solidFill>
              <a:latin typeface="ui-sans-serif" pitchFamily="34" charset="0"/>
              <a:ea typeface="ui-sans-serif" pitchFamily="34" charset="-122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20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STEP 3 </a:t>
            </a:r>
            <a:r>
              <a:rPr lang="en-US" sz="20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sym typeface="Wingdings" panose="05000000000000000000" pitchFamily="2" charset="2"/>
              </a:rPr>
              <a:t> </a:t>
            </a:r>
            <a:r>
              <a:rPr lang="en-US" sz="2000" b="1" dirty="0">
                <a:solidFill>
                  <a:srgbClr val="00B0F0"/>
                </a:solidFill>
                <a:latin typeface="ui-sans-serif" pitchFamily="34" charset="0"/>
                <a:ea typeface="ui-sans-serif" pitchFamily="34" charset="-122"/>
                <a:sym typeface="Wingdings" panose="05000000000000000000" pitchFamily="2" charset="2"/>
              </a:rPr>
              <a:t>ATTENTION MECHANISM </a:t>
            </a:r>
            <a:r>
              <a:rPr lang="en-US" sz="20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sym typeface="Wingdings" panose="05000000000000000000" pitchFamily="2" charset="2"/>
              </a:rPr>
              <a:t>the network learns if trust  to the camera or the lidar most</a:t>
            </a:r>
          </a:p>
          <a:p>
            <a:pPr marL="0" indent="0">
              <a:lnSpc>
                <a:spcPts val="1500"/>
              </a:lnSpc>
              <a:buNone/>
            </a:pPr>
            <a:endParaRPr lang="en-US" sz="2000" dirty="0">
              <a:solidFill>
                <a:srgbClr val="D1D5DB"/>
              </a:solidFill>
              <a:latin typeface="ui-sans-serif" pitchFamily="34" charset="0"/>
              <a:ea typeface="ui-sans-serif" pitchFamily="34" charset="-122"/>
              <a:sym typeface="Wingdings" panose="05000000000000000000" pitchFamily="2" charset="2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20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sym typeface="Wingdings" panose="05000000000000000000" pitchFamily="2" charset="2"/>
              </a:rPr>
              <a:t>STEP 4  </a:t>
            </a:r>
            <a:r>
              <a:rPr lang="en-US" sz="2000" b="1" dirty="0">
                <a:solidFill>
                  <a:srgbClr val="00B0F0"/>
                </a:solidFill>
                <a:latin typeface="ui-sans-serif" pitchFamily="34" charset="0"/>
                <a:ea typeface="ui-sans-serif" pitchFamily="34" charset="-122"/>
                <a:sym typeface="Wingdings" panose="05000000000000000000" pitchFamily="2" charset="2"/>
              </a:rPr>
              <a:t>WEIGHTED FUSION </a:t>
            </a:r>
            <a:r>
              <a:rPr lang="en-US" sz="20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sym typeface="Wingdings" panose="05000000000000000000" pitchFamily="2" charset="2"/>
              </a:rPr>
              <a:t>application of different weight to the features</a:t>
            </a:r>
          </a:p>
          <a:p>
            <a:pPr marL="0" indent="0">
              <a:lnSpc>
                <a:spcPts val="1500"/>
              </a:lnSpc>
              <a:buNone/>
            </a:pPr>
            <a:endParaRPr lang="en-US" sz="2000" dirty="0">
              <a:solidFill>
                <a:srgbClr val="D1D5DB"/>
              </a:solidFill>
              <a:latin typeface="ui-sans-serif" pitchFamily="34" charset="0"/>
              <a:ea typeface="ui-sans-serif" pitchFamily="34" charset="-122"/>
              <a:sym typeface="Wingdings" panose="05000000000000000000" pitchFamily="2" charset="2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20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sym typeface="Wingdings" panose="05000000000000000000" pitchFamily="2" charset="2"/>
              </a:rPr>
              <a:t>STEP 5  </a:t>
            </a:r>
            <a:r>
              <a:rPr lang="en-US" sz="2000" b="1" dirty="0">
                <a:solidFill>
                  <a:srgbClr val="00B0F0"/>
                </a:solidFill>
                <a:latin typeface="ui-sans-serif" pitchFamily="34" charset="0"/>
                <a:ea typeface="ui-sans-serif" pitchFamily="34" charset="-122"/>
                <a:sym typeface="Wingdings" panose="05000000000000000000" pitchFamily="2" charset="2"/>
              </a:rPr>
              <a:t>FINAL FUSION </a:t>
            </a:r>
            <a:r>
              <a:rPr lang="en-US" sz="20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sym typeface="Wingdings" panose="05000000000000000000" pitchFamily="2" charset="2"/>
              </a:rPr>
              <a:t>middle-fusion with attention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81461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62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219200"/>
            <a:ext cx="10972800" cy="12573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438275"/>
            <a:ext cx="22860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314700"/>
            <a:ext cx="3505200" cy="16192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3495675"/>
            <a:ext cx="190500" cy="190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475" y="3800475"/>
            <a:ext cx="3219450" cy="419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43400" y="3314700"/>
            <a:ext cx="3505200" cy="16192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86275" y="3509963"/>
            <a:ext cx="190500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6275" y="3836670"/>
            <a:ext cx="3219450" cy="419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77200" y="3314700"/>
            <a:ext cx="3505200" cy="16192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20075" y="3495675"/>
            <a:ext cx="190500" cy="190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0075" y="3800475"/>
            <a:ext cx="3219450" cy="4191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5257800"/>
            <a:ext cx="10972800" cy="8382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5448300"/>
            <a:ext cx="238125" cy="190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2000" y="5772150"/>
            <a:ext cx="152400" cy="1524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609600" y="381000"/>
            <a:ext cx="1316736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Detection Head Architecture</a:t>
            </a:r>
            <a:endParaRPr lang="en-US" sz="2700" dirty="0"/>
          </a:p>
        </p:txBody>
      </p:sp>
      <p:sp>
        <p:nvSpPr>
          <p:cNvPr id="29" name="Text 1"/>
          <p:cNvSpPr/>
          <p:nvPr/>
        </p:nvSpPr>
        <p:spPr>
          <a:xfrm>
            <a:off x="1143000" y="1409700"/>
            <a:ext cx="10591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DD4B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Multi-Task Architecture</a:t>
            </a:r>
            <a:endParaRPr lang="en-US" sz="1800" dirty="0"/>
          </a:p>
        </p:txBody>
      </p:sp>
      <p:sp>
        <p:nvSpPr>
          <p:cNvPr id="30" name="Text 2"/>
          <p:cNvSpPr/>
          <p:nvPr/>
        </p:nvSpPr>
        <p:spPr>
          <a:xfrm>
            <a:off x="800100" y="1828800"/>
            <a:ext cx="10591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detection head processes fused features to </a:t>
            </a:r>
            <a:r>
              <a:rPr lang="en-US" sz="1200" b="1" dirty="0">
                <a:solidFill>
                  <a:srgbClr val="00B0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predict object classifications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, 3D bounding box parameters, and object directions.</a:t>
            </a:r>
            <a:endParaRPr lang="en-US" sz="1200" dirty="0"/>
          </a:p>
        </p:txBody>
      </p:sp>
      <p:sp>
        <p:nvSpPr>
          <p:cNvPr id="35" name="Text 7"/>
          <p:cNvSpPr/>
          <p:nvPr/>
        </p:nvSpPr>
        <p:spPr>
          <a:xfrm>
            <a:off x="1057275" y="3457575"/>
            <a:ext cx="38633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DD4B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Classification Branch</a:t>
            </a:r>
            <a:endParaRPr lang="en-US" sz="1500" dirty="0"/>
          </a:p>
        </p:txBody>
      </p:sp>
      <p:sp>
        <p:nvSpPr>
          <p:cNvPr id="36" name="Text 8"/>
          <p:cNvSpPr/>
          <p:nvPr/>
        </p:nvSpPr>
        <p:spPr>
          <a:xfrm>
            <a:off x="866775" y="3914775"/>
            <a:ext cx="35890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Conv2d(256 → 3, )</a:t>
            </a:r>
            <a:endParaRPr lang="en-US" sz="1050" dirty="0"/>
          </a:p>
        </p:txBody>
      </p:sp>
      <p:sp>
        <p:nvSpPr>
          <p:cNvPr id="37" name="Text 9"/>
          <p:cNvSpPr/>
          <p:nvPr/>
        </p:nvSpPr>
        <p:spPr>
          <a:xfrm>
            <a:off x="752475" y="4333875"/>
            <a:ext cx="32194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Predicts class probabilities for </a:t>
            </a:r>
            <a:r>
              <a:rPr lang="en-US" sz="1050" b="1" dirty="0">
                <a:solidFill>
                  <a:srgbClr val="00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Car, Pedestrian, Cyclist</a:t>
            </a:r>
            <a:endParaRPr lang="en-US" sz="1050" dirty="0"/>
          </a:p>
        </p:txBody>
      </p:sp>
      <p:sp>
        <p:nvSpPr>
          <p:cNvPr id="38" name="Text 10"/>
          <p:cNvSpPr/>
          <p:nvPr/>
        </p:nvSpPr>
        <p:spPr>
          <a:xfrm>
            <a:off x="4791075" y="3457575"/>
            <a:ext cx="32194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3D Bounding Box Regression</a:t>
            </a:r>
            <a:endParaRPr lang="en-US" sz="1500" dirty="0"/>
          </a:p>
        </p:txBody>
      </p:sp>
      <p:sp>
        <p:nvSpPr>
          <p:cNvPr id="39" name="Text 11"/>
          <p:cNvSpPr/>
          <p:nvPr/>
        </p:nvSpPr>
        <p:spPr>
          <a:xfrm>
            <a:off x="4600575" y="3957637"/>
            <a:ext cx="35890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Conv2d(256 → 7, )</a:t>
            </a:r>
            <a:endParaRPr lang="en-US" sz="1050" dirty="0"/>
          </a:p>
        </p:txBody>
      </p:sp>
      <p:sp>
        <p:nvSpPr>
          <p:cNvPr id="40" name="Text 12"/>
          <p:cNvSpPr/>
          <p:nvPr/>
        </p:nvSpPr>
        <p:spPr>
          <a:xfrm>
            <a:off x="4486275" y="4350543"/>
            <a:ext cx="38633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Predicts 7 parameters: </a:t>
            </a:r>
            <a:r>
              <a:rPr lang="en-US" sz="1050" b="1" dirty="0">
                <a:solidFill>
                  <a:srgbClr val="00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(x, y, z, l, w, h, θ) 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(boxes position and orientation)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41" name="Text 13"/>
          <p:cNvSpPr/>
          <p:nvPr/>
        </p:nvSpPr>
        <p:spPr>
          <a:xfrm>
            <a:off x="8524875" y="3457575"/>
            <a:ext cx="38633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CC1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Direction Classification</a:t>
            </a:r>
            <a:endParaRPr lang="en-US" sz="1500" dirty="0"/>
          </a:p>
        </p:txBody>
      </p:sp>
      <p:sp>
        <p:nvSpPr>
          <p:cNvPr id="42" name="Text 14"/>
          <p:cNvSpPr/>
          <p:nvPr/>
        </p:nvSpPr>
        <p:spPr>
          <a:xfrm>
            <a:off x="8334375" y="3914775"/>
            <a:ext cx="35890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Conv2d(256 → 2, )</a:t>
            </a:r>
            <a:endParaRPr lang="en-US" sz="1050" dirty="0"/>
          </a:p>
        </p:txBody>
      </p:sp>
      <p:sp>
        <p:nvSpPr>
          <p:cNvPr id="43" name="Text 15"/>
          <p:cNvSpPr/>
          <p:nvPr/>
        </p:nvSpPr>
        <p:spPr>
          <a:xfrm>
            <a:off x="8220075" y="4333875"/>
            <a:ext cx="321945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Binary classification to disambiguate object orientation</a:t>
            </a:r>
            <a:b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</a:b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(if it’s front or back oriented)</a:t>
            </a:r>
            <a:endParaRPr lang="en-US" sz="1050" dirty="0"/>
          </a:p>
        </p:txBody>
      </p:sp>
      <p:sp>
        <p:nvSpPr>
          <p:cNvPr id="44" name="Text 16"/>
          <p:cNvSpPr/>
          <p:nvPr/>
        </p:nvSpPr>
        <p:spPr>
          <a:xfrm>
            <a:off x="1114425" y="5410200"/>
            <a:ext cx="10668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Detection Process</a:t>
            </a:r>
            <a:endParaRPr lang="en-US" sz="1500" dirty="0"/>
          </a:p>
        </p:txBody>
      </p:sp>
      <p:sp>
        <p:nvSpPr>
          <p:cNvPr id="45" name="Text 17"/>
          <p:cNvSpPr/>
          <p:nvPr/>
        </p:nvSpPr>
        <p:spPr>
          <a:xfrm>
            <a:off x="990600" y="5753100"/>
            <a:ext cx="381119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Dense prediction over 32×32 grid in BEV Bird's Eye View space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219200"/>
            <a:ext cx="5181600" cy="5029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1476375"/>
            <a:ext cx="28575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1971675"/>
            <a:ext cx="1905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2619375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575" y="3910916"/>
            <a:ext cx="171450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575" y="4249053"/>
            <a:ext cx="4724400" cy="2266047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2975" y="4782453"/>
            <a:ext cx="1417274" cy="1324878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39776" y="4925328"/>
            <a:ext cx="228600" cy="228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46600" y="4768978"/>
            <a:ext cx="1422350" cy="1338353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38326" y="4925328"/>
            <a:ext cx="228600" cy="228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40076" y="4782453"/>
            <a:ext cx="1422350" cy="1324878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36877" y="4925328"/>
            <a:ext cx="228600" cy="228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1219200"/>
            <a:ext cx="5181600" cy="5029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29400" y="1476375"/>
            <a:ext cx="228600" cy="2286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609600" y="381000"/>
            <a:ext cx="109728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Training Strategy &amp; Setup</a:t>
            </a:r>
            <a:endParaRPr lang="en-US" sz="2700" dirty="0"/>
          </a:p>
        </p:txBody>
      </p:sp>
      <p:sp>
        <p:nvSpPr>
          <p:cNvPr id="29" name="Text 1"/>
          <p:cNvSpPr/>
          <p:nvPr/>
        </p:nvSpPr>
        <p:spPr>
          <a:xfrm>
            <a:off x="1238250" y="1447800"/>
            <a:ext cx="56692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DD4B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Training Configuration</a:t>
            </a:r>
            <a:endParaRPr lang="en-US" sz="1800" dirty="0"/>
          </a:p>
        </p:txBody>
      </p:sp>
      <p:sp>
        <p:nvSpPr>
          <p:cNvPr id="30" name="Text 2"/>
          <p:cNvSpPr/>
          <p:nvPr/>
        </p:nvSpPr>
        <p:spPr>
          <a:xfrm>
            <a:off x="1371600" y="1905000"/>
            <a:ext cx="399567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Framework &amp; Hardware</a:t>
            </a:r>
            <a:endParaRPr lang="en-US" sz="1350" dirty="0"/>
          </a:p>
        </p:txBody>
      </p:sp>
      <p:sp>
        <p:nvSpPr>
          <p:cNvPr id="31" name="Text 3"/>
          <p:cNvSpPr/>
          <p:nvPr/>
        </p:nvSpPr>
        <p:spPr>
          <a:xfrm>
            <a:off x="1371600" y="2171700"/>
            <a:ext cx="399567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PyTorch 2.0 on Google Colab GPU </a:t>
            </a:r>
            <a:endParaRPr lang="en-US" sz="1200" dirty="0"/>
          </a:p>
        </p:txBody>
      </p:sp>
      <p:sp>
        <p:nvSpPr>
          <p:cNvPr id="32" name="Text 4"/>
          <p:cNvSpPr/>
          <p:nvPr/>
        </p:nvSpPr>
        <p:spPr>
          <a:xfrm>
            <a:off x="1276201" y="2552700"/>
            <a:ext cx="42863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Parameters</a:t>
            </a:r>
            <a:endParaRPr lang="en-US" sz="1350" dirty="0"/>
          </a:p>
        </p:txBody>
      </p:sp>
      <p:sp>
        <p:nvSpPr>
          <p:cNvPr id="33" name="Text 5"/>
          <p:cNvSpPr/>
          <p:nvPr/>
        </p:nvSpPr>
        <p:spPr>
          <a:xfrm>
            <a:off x="1276201" y="2819400"/>
            <a:ext cx="428639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Batch Size: 4 | Training Samples: 800 | Validation Samples: 200 | Epochs: 13</a:t>
            </a:r>
            <a:endParaRPr lang="en-US" sz="1200" dirty="0"/>
          </a:p>
        </p:txBody>
      </p:sp>
      <p:sp>
        <p:nvSpPr>
          <p:cNvPr id="38" name="Text 10"/>
          <p:cNvSpPr/>
          <p:nvPr/>
        </p:nvSpPr>
        <p:spPr>
          <a:xfrm>
            <a:off x="1076325" y="3882341"/>
            <a:ext cx="40105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Multi-Task Loss Function</a:t>
            </a:r>
            <a:endParaRPr lang="en-US" sz="1800" dirty="0"/>
          </a:p>
        </p:txBody>
      </p:sp>
      <p:sp>
        <p:nvSpPr>
          <p:cNvPr id="39" name="Text 11"/>
          <p:cNvSpPr/>
          <p:nvPr/>
        </p:nvSpPr>
        <p:spPr>
          <a:xfrm>
            <a:off x="942975" y="4401453"/>
            <a:ext cx="4419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</a:t>
            </a:r>
            <a:r>
              <a:rPr lang="en-US" sz="9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total</a:t>
            </a: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= L</a:t>
            </a:r>
            <a:r>
              <a:rPr lang="en-US" sz="9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classification</a:t>
            </a: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+ L</a:t>
            </a:r>
            <a:r>
              <a:rPr lang="en-US" sz="9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regression</a:t>
            </a: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+ 0.2 × L</a:t>
            </a:r>
            <a:r>
              <a:rPr lang="en-US" sz="9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direction</a:t>
            </a:r>
            <a:endParaRPr lang="en-US" sz="1200" dirty="0"/>
          </a:p>
        </p:txBody>
      </p:sp>
      <p:sp>
        <p:nvSpPr>
          <p:cNvPr id="40" name="Text 12"/>
          <p:cNvSpPr/>
          <p:nvPr/>
        </p:nvSpPr>
        <p:spPr>
          <a:xfrm>
            <a:off x="1053635" y="5105851"/>
            <a:ext cx="11770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Binary Cross Entropy standard</a:t>
            </a:r>
            <a:endParaRPr lang="en-US" sz="1200" dirty="0"/>
          </a:p>
        </p:txBody>
      </p:sp>
      <p:sp>
        <p:nvSpPr>
          <p:cNvPr id="41" name="Text 13"/>
          <p:cNvSpPr/>
          <p:nvPr/>
        </p:nvSpPr>
        <p:spPr>
          <a:xfrm>
            <a:off x="933450" y="5595801"/>
            <a:ext cx="1432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 classes (pedestrian…)</a:t>
            </a:r>
            <a:endParaRPr lang="en-US" sz="1050" dirty="0"/>
          </a:p>
        </p:txBody>
      </p:sp>
      <p:sp>
        <p:nvSpPr>
          <p:cNvPr id="42" name="Text 14"/>
          <p:cNvSpPr/>
          <p:nvPr/>
        </p:nvSpPr>
        <p:spPr>
          <a:xfrm>
            <a:off x="2483051" y="5125353"/>
            <a:ext cx="1432500" cy="51344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Smooth L1</a:t>
            </a:r>
            <a:br>
              <a:rPr lang="en-US" sz="8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</a:br>
            <a:r>
              <a:rPr lang="en-US" sz="8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regression </a:t>
            </a:r>
            <a:r>
              <a:rPr lang="en-US" sz="800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bbox</a:t>
            </a:r>
            <a:endParaRPr lang="en-US" sz="800" dirty="0"/>
          </a:p>
        </p:txBody>
      </p:sp>
      <p:sp>
        <p:nvSpPr>
          <p:cNvPr id="43" name="Text 15"/>
          <p:cNvSpPr/>
          <p:nvPr/>
        </p:nvSpPr>
        <p:spPr>
          <a:xfrm>
            <a:off x="2560900" y="5563503"/>
            <a:ext cx="119375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σ=3.0</a:t>
            </a:r>
            <a:endParaRPr lang="en-US" sz="1050" dirty="0"/>
          </a:p>
        </p:txBody>
      </p:sp>
      <p:sp>
        <p:nvSpPr>
          <p:cNvPr id="44" name="Text 16"/>
          <p:cNvSpPr/>
          <p:nvPr/>
        </p:nvSpPr>
        <p:spPr>
          <a:xfrm>
            <a:off x="3935001" y="5239653"/>
            <a:ext cx="143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Cross Entropy</a:t>
            </a:r>
            <a:endParaRPr lang="en-US" sz="1200" dirty="0"/>
          </a:p>
        </p:txBody>
      </p:sp>
      <p:sp>
        <p:nvSpPr>
          <p:cNvPr id="45" name="Text 17"/>
          <p:cNvSpPr/>
          <p:nvPr/>
        </p:nvSpPr>
        <p:spPr>
          <a:xfrm>
            <a:off x="3935001" y="5468253"/>
            <a:ext cx="1432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Weight: 0.2</a:t>
            </a:r>
            <a:endParaRPr lang="en-US" sz="1050" dirty="0"/>
          </a:p>
        </p:txBody>
      </p:sp>
      <p:sp>
        <p:nvSpPr>
          <p:cNvPr id="46" name="Text 18"/>
          <p:cNvSpPr/>
          <p:nvPr/>
        </p:nvSpPr>
        <p:spPr>
          <a:xfrm>
            <a:off x="6972300" y="1447800"/>
            <a:ext cx="4724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Training Process</a:t>
            </a:r>
            <a:endParaRPr lang="en-US" sz="1800" dirty="0"/>
          </a:p>
        </p:txBody>
      </p:sp>
      <p:sp>
        <p:nvSpPr>
          <p:cNvPr id="47" name="Text 19"/>
          <p:cNvSpPr/>
          <p:nvPr/>
        </p:nvSpPr>
        <p:spPr>
          <a:xfrm>
            <a:off x="6629400" y="1905000"/>
            <a:ext cx="4724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Learning Rate Schedule</a:t>
            </a:r>
            <a:endParaRPr lang="en-US" sz="1350" dirty="0"/>
          </a:p>
        </p:txBody>
      </p:sp>
      <p:pic>
        <p:nvPicPr>
          <p:cNvPr id="71" name="Immagine 70" descr="Immagine che contiene linea, Diagramma, testo, diagramma&#10;&#10;Il contenuto generato dall'IA potrebbe non essere corretto.">
            <a:extLst>
              <a:ext uri="{FF2B5EF4-FFF2-40B4-BE49-F238E27FC236}">
                <a16:creationId xmlns:a16="http://schemas.microsoft.com/office/drawing/2014/main" id="{1B85625A-5FCD-A607-C2CB-22E82D5660A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28678" y="2171700"/>
            <a:ext cx="5125844" cy="2589493"/>
          </a:xfrm>
          <a:prstGeom prst="rect">
            <a:avLst/>
          </a:prstGeom>
        </p:spPr>
      </p:pic>
      <p:sp>
        <p:nvSpPr>
          <p:cNvPr id="72" name="Text 5">
            <a:extLst>
              <a:ext uri="{FF2B5EF4-FFF2-40B4-BE49-F238E27FC236}">
                <a16:creationId xmlns:a16="http://schemas.microsoft.com/office/drawing/2014/main" id="{AFA7DA2C-DA4C-2ECA-B144-5A18D301077E}"/>
              </a:ext>
            </a:extLst>
          </p:cNvPr>
          <p:cNvSpPr/>
          <p:nvPr/>
        </p:nvSpPr>
        <p:spPr>
          <a:xfrm>
            <a:off x="6629400" y="5239653"/>
            <a:ext cx="428639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73" name="Text 5">
            <a:extLst>
              <a:ext uri="{FF2B5EF4-FFF2-40B4-BE49-F238E27FC236}">
                <a16:creationId xmlns:a16="http://schemas.microsoft.com/office/drawing/2014/main" id="{FFE3F3C0-449C-2A63-D136-0E7E4DD94E77}"/>
              </a:ext>
            </a:extLst>
          </p:cNvPr>
          <p:cNvSpPr/>
          <p:nvPr/>
        </p:nvSpPr>
        <p:spPr>
          <a:xfrm>
            <a:off x="6606314" y="5239653"/>
            <a:ext cx="428639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Best Val Loss: 338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Best Train Loss: 226</a:t>
            </a:r>
            <a:endParaRPr lang="en-US" sz="1200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589423AD-267F-638F-CDEF-0499BA4A9F4F}"/>
              </a:ext>
            </a:extLst>
          </p:cNvPr>
          <p:cNvSpPr/>
          <p:nvPr/>
        </p:nvSpPr>
        <p:spPr>
          <a:xfrm>
            <a:off x="3941469" y="5658753"/>
            <a:ext cx="14325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Prediction vs reality</a:t>
            </a:r>
            <a:endParaRPr lang="en-US" sz="1050" dirty="0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48185229-97C0-6F77-32CF-67379D589541}"/>
              </a:ext>
            </a:extLst>
          </p:cNvPr>
          <p:cNvSpPr/>
          <p:nvPr/>
        </p:nvSpPr>
        <p:spPr>
          <a:xfrm>
            <a:off x="6629400" y="5759266"/>
            <a:ext cx="428639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Underfitting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?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006" y="494006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914400"/>
            <a:ext cx="1219200" cy="381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609600" y="381000"/>
            <a:ext cx="1316736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Training Results</a:t>
            </a:r>
            <a:endParaRPr lang="en-US" sz="2700" dirty="0"/>
          </a:p>
        </p:txBody>
      </p:sp>
      <p:pic>
        <p:nvPicPr>
          <p:cNvPr id="41" name="Immagine 40" descr="Immagine che contiene aria aperta, albero, strada, automobile&#10;&#10;Il contenuto generato dall'IA potrebbe non essere corretto.">
            <a:extLst>
              <a:ext uri="{FF2B5EF4-FFF2-40B4-BE49-F238E27FC236}">
                <a16:creationId xmlns:a16="http://schemas.microsoft.com/office/drawing/2014/main" id="{7979CA1B-E731-9C75-9E22-B94AB290E5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944957"/>
            <a:ext cx="5283200" cy="2665393"/>
          </a:xfrm>
          <a:prstGeom prst="rect">
            <a:avLst/>
          </a:prstGeom>
        </p:spPr>
      </p:pic>
      <p:sp>
        <p:nvSpPr>
          <p:cNvPr id="46" name="Text 5">
            <a:extLst>
              <a:ext uri="{FF2B5EF4-FFF2-40B4-BE49-F238E27FC236}">
                <a16:creationId xmlns:a16="http://schemas.microsoft.com/office/drawing/2014/main" id="{C30EE968-7D96-5185-A531-9EFDE71C9DE6}"/>
              </a:ext>
            </a:extLst>
          </p:cNvPr>
          <p:cNvSpPr/>
          <p:nvPr/>
        </p:nvSpPr>
        <p:spPr>
          <a:xfrm>
            <a:off x="609600" y="1450072"/>
            <a:ext cx="5283200" cy="14173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basic problems certainly lie in the </a:t>
            </a:r>
            <a:r>
              <a:rPr lang="en-US" b="1" dirty="0">
                <a:solidFill>
                  <a:srgbClr val="00B0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simplicity</a:t>
            </a:r>
            <a:r>
              <a:rPr lang="en-US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of the model, the </a:t>
            </a:r>
            <a:r>
              <a:rPr lang="en-US" b="1" dirty="0">
                <a:solidFill>
                  <a:srgbClr val="00B0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low number of samples</a:t>
            </a:r>
            <a:r>
              <a:rPr lang="en-US" b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analyzed, the </a:t>
            </a:r>
            <a:r>
              <a:rPr lang="en-US" b="1" dirty="0">
                <a:solidFill>
                  <a:srgbClr val="00B0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underfitting</a:t>
            </a:r>
            <a:endParaRPr lang="en-US" dirty="0">
              <a:solidFill>
                <a:srgbClr val="00B0F0"/>
              </a:solidFill>
              <a:latin typeface="ui-sans-serif" pitchFamily="34" charset="0"/>
              <a:ea typeface="ui-sans-serif" pitchFamily="34" charset="-122"/>
              <a:cs typeface="ui-sans-serif" pitchFamily="34" charset="-120"/>
            </a:endParaRPr>
          </a:p>
          <a:p>
            <a:pPr marL="0" indent="0">
              <a:lnSpc>
                <a:spcPts val="1800"/>
              </a:lnSpc>
              <a:buNone/>
            </a:pPr>
            <a:endParaRPr lang="en-US" dirty="0">
              <a:solidFill>
                <a:schemeClr val="bg1"/>
              </a:solidFill>
              <a:latin typeface="ui-sans-serif" pitchFamily="34" charset="0"/>
              <a:ea typeface="ui-sans-serif" pitchFamily="34" charset="-122"/>
            </a:endParaRPr>
          </a:p>
          <a:p>
            <a:pPr marL="0" indent="0">
              <a:lnSpc>
                <a:spcPts val="1800"/>
              </a:lnSpc>
              <a:buNone/>
            </a:pPr>
            <a:endParaRPr lang="en-US" dirty="0">
              <a:solidFill>
                <a:schemeClr val="bg1"/>
              </a:solidFill>
              <a:latin typeface="ui-sans-serif" pitchFamily="34" charset="0"/>
              <a:ea typeface="ui-sans-serif" pitchFamily="34" charset="-122"/>
            </a:endParaRPr>
          </a:p>
          <a:p>
            <a:pPr marL="0" indent="0">
              <a:lnSpc>
                <a:spcPts val="1800"/>
              </a:lnSpc>
              <a:buNone/>
            </a:pPr>
            <a:endParaRPr lang="en-US" dirty="0">
              <a:solidFill>
                <a:schemeClr val="bg1"/>
              </a:solidFill>
              <a:latin typeface="ui-sans-serif" pitchFamily="34" charset="0"/>
              <a:ea typeface="ui-sans-serif" pitchFamily="34" charset="-122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sym typeface="Wingdings" panose="05000000000000000000" pitchFamily="2" charset="2"/>
              </a:rPr>
              <a:t>Detection of pedestrians and cyclists is very imprecise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8" name="Immagine 47" descr="Immagine che contiene aria aperta, veicolo, Veicolo terrestre, automobile&#10;&#10;Il contenuto generato dall'IA potrebbe non essere corretto.">
            <a:extLst>
              <a:ext uri="{FF2B5EF4-FFF2-40B4-BE49-F238E27FC236}">
                <a16:creationId xmlns:a16="http://schemas.microsoft.com/office/drawing/2014/main" id="{7251BDDD-09D4-9C98-29F3-68C050CF51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2400" y="952500"/>
            <a:ext cx="4886952" cy="2815107"/>
          </a:xfrm>
          <a:prstGeom prst="rect">
            <a:avLst/>
          </a:prstGeom>
        </p:spPr>
      </p:pic>
      <p:pic>
        <p:nvPicPr>
          <p:cNvPr id="50" name="Immagine 49" descr="Immagine che contiene aria aperta, veicolo, Veicolo terrestre, albero&#10;&#10;Il contenuto generato dall'IA potrebbe non essere corretto.">
            <a:extLst>
              <a:ext uri="{FF2B5EF4-FFF2-40B4-BE49-F238E27FC236}">
                <a16:creationId xmlns:a16="http://schemas.microsoft.com/office/drawing/2014/main" id="{D83598A3-7902-FD3D-1D00-D68382F7835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2400" y="3950443"/>
            <a:ext cx="4886952" cy="26599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914400"/>
            <a:ext cx="12192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219200"/>
            <a:ext cx="5257800" cy="2933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447800"/>
            <a:ext cx="257175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186690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24003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27051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30099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3543300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9218" y="1257300"/>
            <a:ext cx="5257800" cy="2895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9718" y="1485900"/>
            <a:ext cx="22860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9718" y="1905000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9718" y="220980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9718" y="2574489"/>
            <a:ext cx="152400" cy="152400"/>
          </a:xfrm>
          <a:prstGeom prst="rect">
            <a:avLst/>
          </a:prstGeom>
        </p:spPr>
      </p:pic>
      <p:sp>
        <p:nvSpPr>
          <p:cNvPr id="49" name="Text 0"/>
          <p:cNvSpPr/>
          <p:nvPr/>
        </p:nvSpPr>
        <p:spPr>
          <a:xfrm>
            <a:off x="609600" y="381000"/>
            <a:ext cx="1097280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50" name="Text 1"/>
          <p:cNvSpPr/>
          <p:nvPr/>
        </p:nvSpPr>
        <p:spPr>
          <a:xfrm>
            <a:off x="1171575" y="1409700"/>
            <a:ext cx="4876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2DD4B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Achievements</a:t>
            </a:r>
            <a:endParaRPr lang="en-US" sz="1800" dirty="0"/>
          </a:p>
        </p:txBody>
      </p:sp>
      <p:sp>
        <p:nvSpPr>
          <p:cNvPr id="51" name="Text 2"/>
          <p:cNvSpPr/>
          <p:nvPr/>
        </p:nvSpPr>
        <p:spPr>
          <a:xfrm>
            <a:off x="1028700" y="1828800"/>
            <a:ext cx="4648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Successfully implemented </a:t>
            </a:r>
            <a:r>
              <a:rPr lang="en-US" sz="1200" b="1" dirty="0">
                <a:solidFill>
                  <a:srgbClr val="00B0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PointPillars + ResNet fusion architecture</a:t>
            </a:r>
            <a:endParaRPr lang="en-US" sz="1200" b="1" dirty="0">
              <a:solidFill>
                <a:srgbClr val="00B0F0"/>
              </a:solidFill>
            </a:endParaRPr>
          </a:p>
        </p:txBody>
      </p:sp>
      <p:sp>
        <p:nvSpPr>
          <p:cNvPr id="52" name="Text 3"/>
          <p:cNvSpPr/>
          <p:nvPr/>
        </p:nvSpPr>
        <p:spPr>
          <a:xfrm>
            <a:off x="1028700" y="2362200"/>
            <a:ext cx="545621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Trained on KITTI-360 dataset with 1000 multi-modal samples</a:t>
            </a:r>
            <a:endParaRPr lang="en-US" sz="1200" dirty="0"/>
          </a:p>
        </p:txBody>
      </p:sp>
      <p:sp>
        <p:nvSpPr>
          <p:cNvPr id="53" name="Text 4"/>
          <p:cNvSpPr/>
          <p:nvPr/>
        </p:nvSpPr>
        <p:spPr>
          <a:xfrm>
            <a:off x="1028700" y="2667000"/>
            <a:ext cx="480613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Achieved </a:t>
            </a:r>
            <a:r>
              <a:rPr lang="en-US" sz="1200" b="1" dirty="0">
                <a:solidFill>
                  <a:srgbClr val="00B0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stable training 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with decreasing loss curves</a:t>
            </a:r>
            <a:endParaRPr lang="en-US" sz="1200" dirty="0"/>
          </a:p>
        </p:txBody>
      </p:sp>
      <p:sp>
        <p:nvSpPr>
          <p:cNvPr id="54" name="Text 5"/>
          <p:cNvSpPr/>
          <p:nvPr/>
        </p:nvSpPr>
        <p:spPr>
          <a:xfrm>
            <a:off x="1028700" y="2971800"/>
            <a:ext cx="4648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Created an end-to-end </a:t>
            </a:r>
            <a:r>
              <a:rPr lang="en-US" sz="1200" b="1" dirty="0">
                <a:solidFill>
                  <a:srgbClr val="00B0F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pipeline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from raw data to a trained model</a:t>
            </a:r>
            <a:endParaRPr lang="en-US" sz="1200" dirty="0"/>
          </a:p>
        </p:txBody>
      </p:sp>
      <p:sp>
        <p:nvSpPr>
          <p:cNvPr id="55" name="Text 6"/>
          <p:cNvSpPr/>
          <p:nvPr/>
        </p:nvSpPr>
        <p:spPr>
          <a:xfrm>
            <a:off x="1028700" y="3505200"/>
            <a:ext cx="4648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Demonstrated the utility of LiDAR-Camera fusion for 3D detection</a:t>
            </a:r>
            <a:endParaRPr lang="en-US" sz="1200" dirty="0"/>
          </a:p>
        </p:txBody>
      </p:sp>
      <p:sp>
        <p:nvSpPr>
          <p:cNvPr id="56" name="Text 7"/>
          <p:cNvSpPr/>
          <p:nvPr/>
        </p:nvSpPr>
        <p:spPr>
          <a:xfrm>
            <a:off x="7208818" y="1460412"/>
            <a:ext cx="585216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Current Limitations</a:t>
            </a:r>
            <a:endParaRPr lang="en-US" sz="1800" dirty="0"/>
          </a:p>
        </p:txBody>
      </p:sp>
      <p:sp>
        <p:nvSpPr>
          <p:cNvPr id="57" name="Text 8"/>
          <p:cNvSpPr/>
          <p:nvPr/>
        </p:nvSpPr>
        <p:spPr>
          <a:xfrm>
            <a:off x="7018318" y="1866900"/>
            <a:ext cx="381279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Implementation parameter calibration</a:t>
            </a:r>
            <a:endParaRPr lang="en-US" sz="1200" dirty="0"/>
          </a:p>
        </p:txBody>
      </p:sp>
      <p:sp>
        <p:nvSpPr>
          <p:cNvPr id="58" name="Text 9"/>
          <p:cNvSpPr/>
          <p:nvPr/>
        </p:nvSpPr>
        <p:spPr>
          <a:xfrm>
            <a:off x="7018318" y="2171700"/>
            <a:ext cx="414319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Overfitting - underfitting</a:t>
            </a:r>
            <a:endParaRPr lang="en-US" sz="1200" dirty="0"/>
          </a:p>
        </p:txBody>
      </p:sp>
      <p:sp>
        <p:nvSpPr>
          <p:cNvPr id="59" name="Text 10"/>
          <p:cNvSpPr/>
          <p:nvPr/>
        </p:nvSpPr>
        <p:spPr>
          <a:xfrm>
            <a:off x="7018318" y="2476500"/>
            <a:ext cx="452431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61" name="Text 12"/>
          <p:cNvSpPr/>
          <p:nvPr/>
        </p:nvSpPr>
        <p:spPr>
          <a:xfrm>
            <a:off x="7018318" y="2536389"/>
            <a:ext cx="303841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Small dataset size (1000 samples)</a:t>
            </a:r>
            <a:endParaRPr lang="en-US" sz="1200" dirty="0"/>
          </a:p>
        </p:txBody>
      </p:sp>
      <p:sp>
        <p:nvSpPr>
          <p:cNvPr id="79" name="Text 5">
            <a:extLst>
              <a:ext uri="{FF2B5EF4-FFF2-40B4-BE49-F238E27FC236}">
                <a16:creationId xmlns:a16="http://schemas.microsoft.com/office/drawing/2014/main" id="{FDAB6C9E-48B4-4A17-FE1C-B56259745DE4}"/>
              </a:ext>
            </a:extLst>
          </p:cNvPr>
          <p:cNvSpPr/>
          <p:nvPr/>
        </p:nvSpPr>
        <p:spPr>
          <a:xfrm>
            <a:off x="765175" y="5093970"/>
            <a:ext cx="4987925" cy="7099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B0F0"/>
                </a:solidFill>
              </a:rPr>
              <a:t>The confidence in detecting pedestrians and bikes is lower than that of machines</a:t>
            </a:r>
            <a:r>
              <a:rPr lang="en-US" sz="1400" dirty="0">
                <a:solidFill>
                  <a:schemeClr val="bg1"/>
                </a:solidFill>
              </a:rPr>
              <a:t>. During training there are few scenes of pedestrians and bikes, I think this is the main cause.</a:t>
            </a:r>
          </a:p>
        </p:txBody>
      </p:sp>
      <p:pic>
        <p:nvPicPr>
          <p:cNvPr id="80" name="Immagine 79" descr="Immagine che contiene aria aperta, albero, strada, automobile&#10;&#10;Il contenuto generato dall'IA potrebbe non essere corretto.">
            <a:extLst>
              <a:ext uri="{FF2B5EF4-FFF2-40B4-BE49-F238E27FC236}">
                <a16:creationId xmlns:a16="http://schemas.microsoft.com/office/drawing/2014/main" id="{0F730491-D091-F27D-69FE-547B1D711B8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7634" y="4416523"/>
            <a:ext cx="4483880" cy="2177854"/>
          </a:xfrm>
          <a:prstGeom prst="rect">
            <a:avLst/>
          </a:prstGeom>
        </p:spPr>
      </p:pic>
      <p:sp>
        <p:nvSpPr>
          <p:cNvPr id="3" name="Text 5">
            <a:extLst>
              <a:ext uri="{FF2B5EF4-FFF2-40B4-BE49-F238E27FC236}">
                <a16:creationId xmlns:a16="http://schemas.microsoft.com/office/drawing/2014/main" id="{CDB850F5-8919-1306-A032-CEEBCD3D1C1F}"/>
              </a:ext>
            </a:extLst>
          </p:cNvPr>
          <p:cNvSpPr/>
          <p:nvPr/>
        </p:nvSpPr>
        <p:spPr>
          <a:xfrm>
            <a:off x="1769999" y="6254749"/>
            <a:ext cx="4714919" cy="3435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chemeClr val="bg1"/>
                </a:solidFill>
              </a:rPr>
              <a:t>FRAME 200 OBJECTS: 11cars, 0 pedestrian, 0 cyclists  </a:t>
            </a:r>
            <a:r>
              <a:rPr lang="en-US" sz="1400" b="1" dirty="0">
                <a:solidFill>
                  <a:schemeClr val="bg1"/>
                </a:solidFill>
                <a:sym typeface="Wingdings" panose="05000000000000000000" pitchFamily="2" charset="2"/>
              </a:rPr>
              <a:t></a:t>
            </a:r>
            <a:endParaRPr lang="en-US" sz="1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1149</Words>
  <Application>Microsoft Office PowerPoint</Application>
  <PresentationFormat>Widescreen</PresentationFormat>
  <Paragraphs>192</Paragraphs>
  <Slides>11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6" baseType="lpstr">
      <vt:lpstr>Arial</vt:lpstr>
      <vt:lpstr>ui-monospace</vt:lpstr>
      <vt:lpstr>ui-sans-serif</vt:lpstr>
      <vt:lpstr>Wingdings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Lorenzo Faoro</cp:lastModifiedBy>
  <cp:revision>17</cp:revision>
  <dcterms:created xsi:type="dcterms:W3CDTF">2025-12-07T17:03:40Z</dcterms:created>
  <dcterms:modified xsi:type="dcterms:W3CDTF">2025-12-11T17:53:14Z</dcterms:modified>
</cp:coreProperties>
</file>